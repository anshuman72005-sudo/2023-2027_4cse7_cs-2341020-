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Lst>
  <p:sldIdLst>
    <p:sldId id="256" r:id="rId4"/>
    <p:sldId id="257" r:id="rId5"/>
    <p:sldId id="258" r:id="rId6"/>
    <p:sldId id="259" r:id="rId7"/>
    <p:sldId id="260" r:id="rId8"/>
    <p:sldId id="261" r:id="rId9"/>
    <p:sldId id="262" r:id="rId10"/>
    <p:sldId id="263" r:id="rId11"/>
    <p:sldId id="264" r:id="rId12"/>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0" d="100"/>
          <a:sy n="100" d="100"/>
        </p:scale>
        <p:origin x="13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theme" Target="theme/theme1.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hyperlink" Target="http://bit.ly/2TtBDfr"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hyperlink" Target="http://bit.ly/2TtBDfr" TargetMode="Externa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9" name="PlaceHolder 1"/>
          <p:cNvSpPr>
            <a:spLocks noGrp="1"/>
          </p:cNvSpPr>
          <p:nvPr>
            <p:ph type="title"/>
          </p:nvPr>
        </p:nvSpPr>
        <p:spPr>
          <a:xfrm>
            <a:off x="421560" y="622800"/>
            <a:ext cx="4283640" cy="997560"/>
          </a:xfrm>
          <a:prstGeom prst="rect">
            <a:avLst/>
          </a:prstGeom>
          <a:noFill/>
          <a:ln w="0">
            <a:noFill/>
          </a:ln>
        </p:spPr>
        <p:txBody>
          <a:bodyPr lIns="0" tIns="0" rIns="0" bIns="0" anchor="ctr">
            <a:spAutoFit/>
          </a:bodyPr>
          <a:lstStyle/>
          <a:p>
            <a:pPr indent="0">
              <a:buNone/>
            </a:pPr>
            <a:endParaRPr lang="fr-FR" sz="1800" b="0" u="none" strike="noStrike">
              <a:solidFill>
                <a:schemeClr val="dk1"/>
              </a:solidFill>
              <a:effectLst/>
              <a:uFillTx/>
              <a:latin typeface="Arial"/>
            </a:endParaRPr>
          </a:p>
        </p:txBody>
      </p:sp>
      <p:sp>
        <p:nvSpPr>
          <p:cNvPr id="10" name="PlaceHolder 2"/>
          <p:cNvSpPr>
            <a:spLocks noGrp="1"/>
          </p:cNvSpPr>
          <p:nvPr>
            <p:ph type="subTitle"/>
          </p:nvPr>
        </p:nvSpPr>
        <p:spPr>
          <a:xfrm>
            <a:off x="457200" y="1203480"/>
            <a:ext cx="8229240" cy="2982960"/>
          </a:xfrm>
          <a:prstGeom prst="rect">
            <a:avLst/>
          </a:prstGeom>
          <a:noFill/>
          <a:ln w="0">
            <a:noFill/>
          </a:ln>
        </p:spPr>
        <p:txBody>
          <a:bodyPr lIns="0" tIns="0" rIns="0" bIns="0" anchor="ctr">
            <a:spAutoFit/>
          </a:bodyPr>
          <a:lstStyle/>
          <a:p>
            <a:pPr indent="0" algn="ctr">
              <a:buNone/>
            </a:pPr>
            <a:endParaRPr lang="en-US" sz="3200" b="0" u="none" strike="noStrike">
              <a:solidFill>
                <a:srgbClr val="000000"/>
              </a:solidFill>
              <a:effectLst/>
              <a:uFillTx/>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USTOM_7">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CUSTOM_7_1">
    <p:bg>
      <p:bgPr>
        <a:solidFill>
          <a:schemeClr val="lt1"/>
        </a:solidFill>
        <a:effectLst/>
      </p:bgPr>
    </p:bg>
    <p:spTree>
      <p:nvGrpSpPr>
        <p:cNvPr id="1" name=""/>
        <p:cNvGrpSpPr/>
        <p:nvPr/>
      </p:nvGrpSpPr>
      <p:grpSpPr>
        <a:xfrm>
          <a:off x="0" y="0"/>
          <a:ext cx="0" cy="0"/>
          <a:chOff x="0" y="0"/>
          <a:chExt cx="0" cy="0"/>
        </a:xfrm>
      </p:grpSpPr>
      <p:pic>
        <p:nvPicPr>
          <p:cNvPr id="18" name="Google Shape;90;p17"/>
          <p:cNvPicPr/>
          <p:nvPr/>
        </p:nvPicPr>
        <p:blipFill>
          <a:blip r:embed="rId2"/>
          <a:stretch/>
        </p:blipFill>
        <p:spPr>
          <a:xfrm>
            <a:off x="89280" y="77400"/>
            <a:ext cx="9002160" cy="4988160"/>
          </a:xfrm>
          <a:prstGeom prst="rect">
            <a:avLst/>
          </a:prstGeom>
          <a:noFill/>
          <a:ln w="0">
            <a:noFill/>
          </a:ln>
          <a:effectLst>
            <a:outerShdw blurRad="57240" dist="19080" dir="5400000" algn="bl" rotWithShape="0">
              <a:srgbClr val="000000">
                <a:alpha val="50000"/>
              </a:srgbClr>
            </a:outerShdw>
          </a:effectLst>
        </p:spPr>
      </p:pic>
      <p:sp>
        <p:nvSpPr>
          <p:cNvPr id="19" name="PlaceHolder 1"/>
          <p:cNvSpPr>
            <a:spLocks noGrp="1"/>
          </p:cNvSpPr>
          <p:nvPr>
            <p:ph type="body"/>
          </p:nvPr>
        </p:nvSpPr>
        <p:spPr>
          <a:xfrm>
            <a:off x="330840" y="1090080"/>
            <a:ext cx="4294080" cy="31093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
        <p:nvSpPr>
          <p:cNvPr id="20" name="PlaceHolder 2"/>
          <p:cNvSpPr>
            <a:spLocks noGrp="1"/>
          </p:cNvSpPr>
          <p:nvPr>
            <p:ph type="body"/>
          </p:nvPr>
        </p:nvSpPr>
        <p:spPr>
          <a:xfrm>
            <a:off x="5623200" y="130680"/>
            <a:ext cx="3395160" cy="4876920"/>
          </a:xfrm>
          <a:prstGeom prst="rect">
            <a:avLst/>
          </a:prstGeom>
          <a:noFill/>
          <a:ln w="0">
            <a:noFill/>
          </a:ln>
        </p:spPr>
        <p:txBody>
          <a:bodyPr lIns="90000" tIns="45000" rIns="90000" bIns="45000" anchor="t">
            <a:normAutofit lnSpcReduction="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21" name="PlaceHolder 3"/>
          <p:cNvSpPr>
            <a:spLocks noGrp="1"/>
          </p:cNvSpPr>
          <p:nvPr>
            <p:ph type="title"/>
          </p:nvPr>
        </p:nvSpPr>
        <p:spPr>
          <a:xfrm>
            <a:off x="330840" y="312120"/>
            <a:ext cx="4294080" cy="65232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BLANK_1_1_1_1_1_1_2">
    <p:bg>
      <p:bgPr>
        <a:solidFill>
          <a:schemeClr val="lt1"/>
        </a:solidFill>
        <a:effectLst/>
      </p:bgPr>
    </p:bg>
    <p:spTree>
      <p:nvGrpSpPr>
        <p:cNvPr id="1" name=""/>
        <p:cNvGrpSpPr/>
        <p:nvPr/>
      </p:nvGrpSpPr>
      <p:grpSpPr>
        <a:xfrm>
          <a:off x="0" y="0"/>
          <a:ext cx="0" cy="0"/>
          <a:chOff x="0" y="0"/>
          <a:chExt cx="0" cy="0"/>
        </a:xfrm>
      </p:grpSpPr>
      <p:pic>
        <p:nvPicPr>
          <p:cNvPr id="22" name="Google Shape;123;p21"/>
          <p:cNvPicPr/>
          <p:nvPr/>
        </p:nvPicPr>
        <p:blipFill>
          <a:blip r:embed="rId2"/>
          <a:stretch/>
        </p:blipFill>
        <p:spPr>
          <a:xfrm>
            <a:off x="89280" y="77400"/>
            <a:ext cx="8965440" cy="4988160"/>
          </a:xfrm>
          <a:prstGeom prst="rect">
            <a:avLst/>
          </a:prstGeom>
          <a:noFill/>
          <a:ln w="0">
            <a:noFill/>
          </a:ln>
        </p:spPr>
      </p:pic>
      <p:sp>
        <p:nvSpPr>
          <p:cNvPr id="23" name="PlaceHolder 1"/>
          <p:cNvSpPr>
            <a:spLocks noGrp="1"/>
          </p:cNvSpPr>
          <p:nvPr>
            <p:ph type="title"/>
          </p:nvPr>
        </p:nvSpPr>
        <p:spPr>
          <a:xfrm>
            <a:off x="421560" y="622800"/>
            <a:ext cx="4283640" cy="997560"/>
          </a:xfrm>
          <a:prstGeom prst="rect">
            <a:avLst/>
          </a:prstGeom>
          <a:noFill/>
          <a:ln w="0">
            <a:noFill/>
          </a:ln>
        </p:spPr>
        <p:txBody>
          <a:bodyPr lIns="91440" tIns="91440" rIns="91440" bIns="91440" anchor="t">
            <a:noAutofit/>
          </a:bodyPr>
          <a:lstStyle/>
          <a:p>
            <a:pPr indent="0">
              <a:buNone/>
            </a:pPr>
            <a:r>
              <a:rPr lang="fr-FR" sz="6000" b="0" u="none" strike="noStrike">
                <a:solidFill>
                  <a:schemeClr val="dk1"/>
                </a:solidFill>
                <a:effectLst/>
                <a:uFillTx/>
                <a:latin typeface="Arial"/>
              </a:rPr>
              <a:t>Click to edit the title text format</a:t>
            </a:r>
          </a:p>
        </p:txBody>
      </p:sp>
      <p:sp>
        <p:nvSpPr>
          <p:cNvPr id="24" name="Google Shape;126;p21"/>
          <p:cNvSpPr/>
          <p:nvPr/>
        </p:nvSpPr>
        <p:spPr>
          <a:xfrm>
            <a:off x="578880" y="3402000"/>
            <a:ext cx="2826360" cy="615240"/>
          </a:xfrm>
          <a:prstGeom prst="rect">
            <a:avLst/>
          </a:prstGeom>
          <a:no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r>
              <a:rPr lang="en" sz="1000" b="1" u="none" strike="noStrike">
                <a:solidFill>
                  <a:schemeClr val="dk1"/>
                </a:solidFill>
                <a:effectLst/>
                <a:uFillTx/>
                <a:latin typeface="DM Sans"/>
                <a:ea typeface="DM Sans"/>
              </a:rPr>
              <a:t>CREDITS:</a:t>
            </a:r>
            <a:r>
              <a:rPr lang="en" sz="1000" b="0" u="none" strike="noStrike">
                <a:solidFill>
                  <a:schemeClr val="dk1"/>
                </a:solidFill>
                <a:effectLst/>
                <a:uFillTx/>
                <a:latin typeface="DM Sans"/>
                <a:ea typeface="DM Sans"/>
              </a:rPr>
              <a:t> This presentation template was created by </a:t>
            </a:r>
            <a:r>
              <a:rPr lang="en" sz="1000" b="1" u="sng" strike="noStrike">
                <a:solidFill>
                  <a:schemeClr val="dk1"/>
                </a:solidFill>
                <a:effectLst/>
                <a:uFillTx/>
                <a:latin typeface="DM Sans"/>
                <a:ea typeface="DM Sans"/>
                <a:hlinkClick r:id="rId3"/>
              </a:rPr>
              <a:t>Slidesgo</a:t>
            </a:r>
            <a:r>
              <a:rPr lang="en" sz="1000" b="1" u="sng" strike="noStrike">
                <a:solidFill>
                  <a:schemeClr val="dk1"/>
                </a:solidFill>
                <a:effectLst/>
                <a:uFillTx/>
                <a:latin typeface="DM Sans"/>
                <a:ea typeface="DM Sans"/>
              </a:rPr>
              <a:t>,</a:t>
            </a:r>
            <a:r>
              <a:rPr lang="en" sz="1000" b="1" u="none" strike="noStrike">
                <a:solidFill>
                  <a:schemeClr val="dk1"/>
                </a:solidFill>
                <a:effectLst/>
                <a:uFillTx/>
                <a:latin typeface="DM Sans"/>
                <a:ea typeface="DM Sans"/>
              </a:rPr>
              <a:t> </a:t>
            </a:r>
            <a:r>
              <a:rPr lang="en" sz="1000" b="0" u="none" strike="noStrike">
                <a:solidFill>
                  <a:schemeClr val="dk1"/>
                </a:solidFill>
                <a:effectLst/>
                <a:uFillTx/>
                <a:latin typeface="DM Sans"/>
                <a:ea typeface="DM Sans"/>
              </a:rPr>
              <a:t>and includes icons, infographics &amp; images by </a:t>
            </a:r>
            <a:r>
              <a:rPr lang="en" sz="1000" b="1" u="sng" strike="noStrike">
                <a:solidFill>
                  <a:schemeClr val="dk1"/>
                </a:solidFill>
                <a:effectLst/>
                <a:uFillTx/>
                <a:latin typeface="DM Sans"/>
                <a:ea typeface="DM Sans"/>
                <a:hlinkClick r:id="rId4"/>
              </a:rPr>
              <a:t>Freepik</a:t>
            </a:r>
            <a:endParaRPr lang="en-US" sz="1000" b="0" u="none" strike="noStrike">
              <a:solidFill>
                <a:srgbClr val="000000"/>
              </a:solidFill>
              <a:effectLst/>
              <a:uFillTx/>
              <a:latin typeface="OpenSymbol"/>
            </a:endParaRPr>
          </a:p>
        </p:txBody>
      </p:sp>
      <p:grpSp>
        <p:nvGrpSpPr>
          <p:cNvPr id="25" name="Google Shape;127;p21"/>
          <p:cNvGrpSpPr/>
          <p:nvPr/>
        </p:nvGrpSpPr>
        <p:grpSpPr>
          <a:xfrm>
            <a:off x="617760" y="132840"/>
            <a:ext cx="11220120" cy="4877640"/>
            <a:chOff x="617760" y="132840"/>
            <a:chExt cx="11220120" cy="4877640"/>
          </a:xfrm>
        </p:grpSpPr>
        <p:sp>
          <p:nvSpPr>
            <p:cNvPr id="26" name="Google Shape;128;p21"/>
            <p:cNvSpPr/>
            <p:nvPr/>
          </p:nvSpPr>
          <p:spPr>
            <a:xfrm>
              <a:off x="6960240" y="132840"/>
              <a:ext cx="4877640" cy="4877640"/>
            </a:xfrm>
            <a:prstGeom prst="ellipse">
              <a:avLst/>
            </a:prstGeom>
            <a:noFill/>
            <a:ln w="9525">
              <a:solidFill>
                <a:srgbClr val="787788"/>
              </a:solidFill>
              <a:prstDash val="dash"/>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27" name="Google Shape;129;p21"/>
            <p:cNvSpPr/>
            <p:nvPr/>
          </p:nvSpPr>
          <p:spPr>
            <a:xfrm>
              <a:off x="5135760" y="756000"/>
              <a:ext cx="3631320" cy="3631320"/>
            </a:xfrm>
            <a:prstGeom prst="ellipse">
              <a:avLst/>
            </a:prstGeom>
            <a:noFill/>
            <a:ln w="9525">
              <a:solidFill>
                <a:srgbClr val="787788"/>
              </a:solidFill>
              <a:prstDash val="dash"/>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28" name="Google Shape;130;p21"/>
            <p:cNvSpPr/>
            <p:nvPr/>
          </p:nvSpPr>
          <p:spPr>
            <a:xfrm>
              <a:off x="4050360" y="1605240"/>
              <a:ext cx="1932480" cy="1932480"/>
            </a:xfrm>
            <a:prstGeom prst="ellipse">
              <a:avLst/>
            </a:prstGeom>
            <a:noFill/>
            <a:ln w="9525">
              <a:solidFill>
                <a:srgbClr val="787788"/>
              </a:solidFill>
              <a:prstDash val="dash"/>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cxnSp>
          <p:nvCxnSpPr>
            <p:cNvPr id="29" name="Google Shape;131;p21"/>
            <p:cNvCxnSpPr/>
            <p:nvPr/>
          </p:nvCxnSpPr>
          <p:spPr>
            <a:xfrm>
              <a:off x="617760" y="2665800"/>
              <a:ext cx="1903680" cy="360"/>
            </a:xfrm>
            <a:prstGeom prst="straightConnector1">
              <a:avLst/>
            </a:prstGeom>
            <a:ln w="9525">
              <a:solidFill>
                <a:srgbClr val="787788"/>
              </a:solidFill>
              <a:prstDash val="dash"/>
              <a:round/>
            </a:ln>
          </p:spPr>
        </p:cxnSp>
        <p:cxnSp>
          <p:nvCxnSpPr>
            <p:cNvPr id="30" name="Google Shape;132;p21"/>
            <p:cNvCxnSpPr/>
            <p:nvPr/>
          </p:nvCxnSpPr>
          <p:spPr>
            <a:xfrm>
              <a:off x="617760" y="3240000"/>
              <a:ext cx="1903680" cy="360"/>
            </a:xfrm>
            <a:prstGeom prst="straightConnector1">
              <a:avLst/>
            </a:prstGeom>
            <a:ln w="9525">
              <a:solidFill>
                <a:srgbClr val="787788"/>
              </a:solidFill>
              <a:prstDash val="dash"/>
              <a:round/>
            </a:ln>
          </p:spPr>
        </p:cxnSp>
      </p:grpSp>
      <p:sp>
        <p:nvSpPr>
          <p:cNvPr id="31"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_1_1_1_1_1_1_2">
    <p:bg>
      <p:bgPr>
        <a:solidFill>
          <a:schemeClr val="lt1"/>
        </a:solidFill>
        <a:effectLst/>
      </p:bgPr>
    </p:bg>
    <p:spTree>
      <p:nvGrpSpPr>
        <p:cNvPr id="1" name=""/>
        <p:cNvGrpSpPr/>
        <p:nvPr/>
      </p:nvGrpSpPr>
      <p:grpSpPr>
        <a:xfrm>
          <a:off x="0" y="0"/>
          <a:ext cx="0" cy="0"/>
          <a:chOff x="0" y="0"/>
          <a:chExt cx="0" cy="0"/>
        </a:xfrm>
      </p:grpSpPr>
      <p:pic>
        <p:nvPicPr>
          <p:cNvPr id="32" name="Google Shape;123;p21"/>
          <p:cNvPicPr/>
          <p:nvPr/>
        </p:nvPicPr>
        <p:blipFill>
          <a:blip r:embed="rId2"/>
          <a:stretch/>
        </p:blipFill>
        <p:spPr>
          <a:xfrm>
            <a:off x="89280" y="77400"/>
            <a:ext cx="8965440" cy="4988160"/>
          </a:xfrm>
          <a:prstGeom prst="rect">
            <a:avLst/>
          </a:prstGeom>
          <a:noFill/>
          <a:ln w="0">
            <a:noFill/>
          </a:ln>
        </p:spPr>
      </p:pic>
      <p:sp>
        <p:nvSpPr>
          <p:cNvPr id="33" name="PlaceHolder 1"/>
          <p:cNvSpPr>
            <a:spLocks noGrp="1"/>
          </p:cNvSpPr>
          <p:nvPr>
            <p:ph type="title"/>
          </p:nvPr>
        </p:nvSpPr>
        <p:spPr>
          <a:xfrm>
            <a:off x="421560" y="622800"/>
            <a:ext cx="4283640" cy="997560"/>
          </a:xfrm>
          <a:prstGeom prst="rect">
            <a:avLst/>
          </a:prstGeom>
          <a:noFill/>
          <a:ln w="0">
            <a:noFill/>
          </a:ln>
        </p:spPr>
        <p:txBody>
          <a:bodyPr lIns="91440" tIns="91440" rIns="91440" bIns="91440" anchor="t">
            <a:noAutofit/>
          </a:bodyPr>
          <a:lstStyle/>
          <a:p>
            <a:pPr indent="0">
              <a:buNone/>
            </a:pPr>
            <a:r>
              <a:rPr lang="fr-FR" sz="6000" b="0" u="none" strike="noStrike">
                <a:solidFill>
                  <a:schemeClr val="dk1"/>
                </a:solidFill>
                <a:effectLst/>
                <a:uFillTx/>
                <a:latin typeface="Arial"/>
              </a:rPr>
              <a:t>Click to edit the title text format</a:t>
            </a:r>
          </a:p>
        </p:txBody>
      </p:sp>
      <p:sp>
        <p:nvSpPr>
          <p:cNvPr id="24" name="Google Shape;126;p21"/>
          <p:cNvSpPr/>
          <p:nvPr/>
        </p:nvSpPr>
        <p:spPr>
          <a:xfrm>
            <a:off x="578880" y="3402000"/>
            <a:ext cx="2826360" cy="615240"/>
          </a:xfrm>
          <a:prstGeom prst="rect">
            <a:avLst/>
          </a:prstGeom>
          <a:no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r>
              <a:rPr lang="en" sz="1000" b="1" u="none" strike="noStrike">
                <a:solidFill>
                  <a:schemeClr val="dk1"/>
                </a:solidFill>
                <a:effectLst/>
                <a:uFillTx/>
                <a:latin typeface="DM Sans"/>
                <a:ea typeface="DM Sans"/>
              </a:rPr>
              <a:t>CREDITS:</a:t>
            </a:r>
            <a:r>
              <a:rPr lang="en" sz="1000" b="0" u="none" strike="noStrike">
                <a:solidFill>
                  <a:schemeClr val="dk1"/>
                </a:solidFill>
                <a:effectLst/>
                <a:uFillTx/>
                <a:latin typeface="DM Sans"/>
                <a:ea typeface="DM Sans"/>
              </a:rPr>
              <a:t> This presentation template was created by </a:t>
            </a:r>
            <a:r>
              <a:rPr lang="en" sz="1000" b="1" u="sng" strike="noStrike">
                <a:solidFill>
                  <a:schemeClr val="dk1"/>
                </a:solidFill>
                <a:effectLst/>
                <a:uFillTx/>
                <a:latin typeface="DM Sans"/>
                <a:ea typeface="DM Sans"/>
                <a:hlinkClick r:id="rId3"/>
              </a:rPr>
              <a:t>Slidesgo</a:t>
            </a:r>
            <a:r>
              <a:rPr lang="en" sz="1000" b="1" u="sng" strike="noStrike">
                <a:solidFill>
                  <a:schemeClr val="dk1"/>
                </a:solidFill>
                <a:effectLst/>
                <a:uFillTx/>
                <a:latin typeface="DM Sans"/>
                <a:ea typeface="DM Sans"/>
              </a:rPr>
              <a:t>,</a:t>
            </a:r>
            <a:r>
              <a:rPr lang="en" sz="1000" b="1" u="none" strike="noStrike">
                <a:solidFill>
                  <a:schemeClr val="dk1"/>
                </a:solidFill>
                <a:effectLst/>
                <a:uFillTx/>
                <a:latin typeface="DM Sans"/>
                <a:ea typeface="DM Sans"/>
              </a:rPr>
              <a:t> </a:t>
            </a:r>
            <a:r>
              <a:rPr lang="en" sz="1000" b="0" u="none" strike="noStrike">
                <a:solidFill>
                  <a:schemeClr val="dk1"/>
                </a:solidFill>
                <a:effectLst/>
                <a:uFillTx/>
                <a:latin typeface="DM Sans"/>
                <a:ea typeface="DM Sans"/>
              </a:rPr>
              <a:t>and includes icons, infographics &amp; images by </a:t>
            </a:r>
            <a:r>
              <a:rPr lang="en" sz="1000" b="1" u="sng" strike="noStrike">
                <a:solidFill>
                  <a:schemeClr val="dk1"/>
                </a:solidFill>
                <a:effectLst/>
                <a:uFillTx/>
                <a:latin typeface="DM Sans"/>
                <a:ea typeface="DM Sans"/>
                <a:hlinkClick r:id="rId4"/>
              </a:rPr>
              <a:t>Freepik</a:t>
            </a:r>
            <a:endParaRPr lang="en-US" sz="1000" b="0" u="none" strike="noStrike">
              <a:solidFill>
                <a:srgbClr val="000000"/>
              </a:solidFill>
              <a:effectLst/>
              <a:uFillTx/>
              <a:latin typeface="OpenSymbol"/>
            </a:endParaRPr>
          </a:p>
        </p:txBody>
      </p:sp>
      <p:grpSp>
        <p:nvGrpSpPr>
          <p:cNvPr id="34" name="Google Shape;127;p21"/>
          <p:cNvGrpSpPr/>
          <p:nvPr/>
        </p:nvGrpSpPr>
        <p:grpSpPr>
          <a:xfrm>
            <a:off x="617760" y="132840"/>
            <a:ext cx="11220120" cy="4877640"/>
            <a:chOff x="617760" y="132840"/>
            <a:chExt cx="11220120" cy="4877640"/>
          </a:xfrm>
        </p:grpSpPr>
        <p:sp>
          <p:nvSpPr>
            <p:cNvPr id="26" name="Google Shape;128;p21"/>
            <p:cNvSpPr/>
            <p:nvPr/>
          </p:nvSpPr>
          <p:spPr>
            <a:xfrm>
              <a:off x="6960240" y="132840"/>
              <a:ext cx="4877640" cy="4877640"/>
            </a:xfrm>
            <a:prstGeom prst="ellipse">
              <a:avLst/>
            </a:prstGeom>
            <a:noFill/>
            <a:ln w="9525">
              <a:solidFill>
                <a:srgbClr val="787788"/>
              </a:solidFill>
              <a:prstDash val="dash"/>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27" name="Google Shape;129;p21"/>
            <p:cNvSpPr/>
            <p:nvPr/>
          </p:nvSpPr>
          <p:spPr>
            <a:xfrm>
              <a:off x="5135760" y="756000"/>
              <a:ext cx="3631320" cy="3631320"/>
            </a:xfrm>
            <a:prstGeom prst="ellipse">
              <a:avLst/>
            </a:prstGeom>
            <a:noFill/>
            <a:ln w="9525">
              <a:solidFill>
                <a:srgbClr val="787788"/>
              </a:solidFill>
              <a:prstDash val="dash"/>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28" name="Google Shape;130;p21"/>
            <p:cNvSpPr/>
            <p:nvPr/>
          </p:nvSpPr>
          <p:spPr>
            <a:xfrm>
              <a:off x="4050360" y="1605240"/>
              <a:ext cx="1932480" cy="1932480"/>
            </a:xfrm>
            <a:prstGeom prst="ellipse">
              <a:avLst/>
            </a:prstGeom>
            <a:noFill/>
            <a:ln w="9525">
              <a:solidFill>
                <a:srgbClr val="787788"/>
              </a:solidFill>
              <a:prstDash val="dash"/>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cxnSp>
          <p:nvCxnSpPr>
            <p:cNvPr id="35" name="Google Shape;131;p21"/>
            <p:cNvCxnSpPr/>
            <p:nvPr/>
          </p:nvCxnSpPr>
          <p:spPr>
            <a:xfrm>
              <a:off x="617760" y="2665800"/>
              <a:ext cx="1903680" cy="360"/>
            </a:xfrm>
            <a:prstGeom prst="straightConnector1">
              <a:avLst/>
            </a:prstGeom>
            <a:ln w="9525">
              <a:solidFill>
                <a:srgbClr val="787788"/>
              </a:solidFill>
              <a:prstDash val="dash"/>
              <a:round/>
            </a:ln>
          </p:spPr>
        </p:cxnSp>
        <p:cxnSp>
          <p:nvCxnSpPr>
            <p:cNvPr id="36" name="Google Shape;132;p21"/>
            <p:cNvCxnSpPr/>
            <p:nvPr/>
          </p:nvCxnSpPr>
          <p:spPr>
            <a:xfrm>
              <a:off x="617760" y="3240000"/>
              <a:ext cx="1903680" cy="360"/>
            </a:xfrm>
            <a:prstGeom prst="straightConnector1">
              <a:avLst/>
            </a:prstGeom>
            <a:ln w="9525">
              <a:solidFill>
                <a:srgbClr val="787788"/>
              </a:solidFill>
              <a:prstDash val="dash"/>
              <a:round/>
            </a:ln>
          </p:spPr>
        </p:cxnSp>
      </p:grpSp>
      <p:sp>
        <p:nvSpPr>
          <p:cNvPr id="3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pic>
        <p:nvPicPr>
          <p:cNvPr id="38" name="Google Shape;38;p6"/>
          <p:cNvPicPr/>
          <p:nvPr/>
        </p:nvPicPr>
        <p:blipFill>
          <a:blip r:embed="rId2"/>
          <a:stretch/>
        </p:blipFill>
        <p:spPr>
          <a:xfrm flipH="1">
            <a:off x="89640" y="79920"/>
            <a:ext cx="8970120" cy="4997160"/>
          </a:xfrm>
          <a:prstGeom prst="rect">
            <a:avLst/>
          </a:prstGeom>
          <a:noFill/>
          <a:ln w="0">
            <a:noFill/>
          </a:ln>
          <a:effectLst>
            <a:outerShdw blurRad="57240" dist="19080" dir="5400000" algn="bl" rotWithShape="0">
              <a:srgbClr val="000000">
                <a:alpha val="50000"/>
              </a:srgbClr>
            </a:outerShdw>
          </a:effectLst>
        </p:spPr>
      </p:pic>
      <p:sp>
        <p:nvSpPr>
          <p:cNvPr id="39" name="PlaceHolder 1"/>
          <p:cNvSpPr>
            <a:spLocks noGrp="1"/>
          </p:cNvSpPr>
          <p:nvPr>
            <p:ph type="title"/>
          </p:nvPr>
        </p:nvSpPr>
        <p:spPr>
          <a:xfrm>
            <a:off x="330840" y="311400"/>
            <a:ext cx="8584200" cy="57240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sp>
        <p:nvSpPr>
          <p:cNvPr id="40"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theme" Target="../theme/theme3.xml"/><Relationship Id="rId4"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Google Shape;9;p2"/>
          <p:cNvPicPr/>
          <p:nvPr/>
        </p:nvPicPr>
        <p:blipFill>
          <a:blip r:embed="rId3"/>
          <a:stretch/>
        </p:blipFill>
        <p:spPr>
          <a:xfrm>
            <a:off x="83880" y="77040"/>
            <a:ext cx="8975880" cy="4988880"/>
          </a:xfrm>
          <a:prstGeom prst="rect">
            <a:avLst/>
          </a:prstGeom>
          <a:noFill/>
          <a:ln w="0">
            <a:noFill/>
          </a:ln>
          <a:effectLst>
            <a:outerShdw blurRad="57240" dist="19080" dir="5400000" algn="bl" rotWithShape="0">
              <a:srgbClr val="000000">
                <a:alpha val="50000"/>
              </a:srgbClr>
            </a:outerShdw>
          </a:effectLst>
        </p:spPr>
      </p:pic>
      <p:sp>
        <p:nvSpPr>
          <p:cNvPr id="3" name="PlaceHolder 1"/>
          <p:cNvSpPr>
            <a:spLocks noGrp="1"/>
          </p:cNvSpPr>
          <p:nvPr>
            <p:ph type="title"/>
          </p:nvPr>
        </p:nvSpPr>
        <p:spPr>
          <a:xfrm>
            <a:off x="330840" y="401040"/>
            <a:ext cx="5645880" cy="163548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grpSp>
        <p:nvGrpSpPr>
          <p:cNvPr id="4" name="Google Shape;12;p2"/>
          <p:cNvGrpSpPr/>
          <p:nvPr/>
        </p:nvGrpSpPr>
        <p:grpSpPr>
          <a:xfrm>
            <a:off x="4050360" y="132840"/>
            <a:ext cx="7787520" cy="4877640"/>
            <a:chOff x="4050360" y="132840"/>
            <a:chExt cx="7787520" cy="4877640"/>
          </a:xfrm>
        </p:grpSpPr>
        <p:sp>
          <p:nvSpPr>
            <p:cNvPr id="5" name="Google Shape;13;p2"/>
            <p:cNvSpPr/>
            <p:nvPr/>
          </p:nvSpPr>
          <p:spPr>
            <a:xfrm>
              <a:off x="6960240" y="132840"/>
              <a:ext cx="4877640" cy="4877640"/>
            </a:xfrm>
            <a:prstGeom prst="ellipse">
              <a:avLst/>
            </a:prstGeom>
            <a:noFill/>
            <a:ln w="9525">
              <a:solidFill>
                <a:srgbClr val="787788"/>
              </a:solidFill>
              <a:prstDash val="dash"/>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6" name="Google Shape;14;p2"/>
            <p:cNvSpPr/>
            <p:nvPr/>
          </p:nvSpPr>
          <p:spPr>
            <a:xfrm>
              <a:off x="5135760" y="756000"/>
              <a:ext cx="3631320" cy="3631320"/>
            </a:xfrm>
            <a:prstGeom prst="ellipse">
              <a:avLst/>
            </a:prstGeom>
            <a:noFill/>
            <a:ln w="9525">
              <a:solidFill>
                <a:srgbClr val="787788"/>
              </a:solidFill>
              <a:prstDash val="dash"/>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7" name="Google Shape;15;p2"/>
            <p:cNvSpPr/>
            <p:nvPr/>
          </p:nvSpPr>
          <p:spPr>
            <a:xfrm>
              <a:off x="4050360" y="1605240"/>
              <a:ext cx="1932480" cy="1932480"/>
            </a:xfrm>
            <a:prstGeom prst="ellipse">
              <a:avLst/>
            </a:prstGeom>
            <a:noFill/>
            <a:ln w="9525">
              <a:solidFill>
                <a:srgbClr val="787788"/>
              </a:solidFill>
              <a:prstDash val="dash"/>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8"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 bg1="lt1" tx1="dk1" bg2="dk2" tx2="lt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11" name="Google Shape;82;p16"/>
          <p:cNvPicPr/>
          <p:nvPr/>
        </p:nvPicPr>
        <p:blipFill>
          <a:blip r:embed="rId3"/>
          <a:stretch/>
        </p:blipFill>
        <p:spPr>
          <a:xfrm>
            <a:off x="89280" y="77400"/>
            <a:ext cx="8970120" cy="4988160"/>
          </a:xfrm>
          <a:prstGeom prst="rect">
            <a:avLst/>
          </a:prstGeom>
          <a:noFill/>
          <a:ln w="0">
            <a:noFill/>
          </a:ln>
          <a:effectLst>
            <a:outerShdw blurRad="57240" dist="19080" dir="5400000" algn="bl" rotWithShape="0">
              <a:srgbClr val="000000">
                <a:alpha val="50000"/>
              </a:srgbClr>
            </a:outerShdw>
          </a:effectLst>
        </p:spPr>
      </p:pic>
      <p:sp>
        <p:nvSpPr>
          <p:cNvPr id="12" name="PlaceHolder 1"/>
          <p:cNvSpPr>
            <a:spLocks noGrp="1"/>
          </p:cNvSpPr>
          <p:nvPr>
            <p:ph type="title"/>
          </p:nvPr>
        </p:nvSpPr>
        <p:spPr>
          <a:xfrm>
            <a:off x="330840" y="309240"/>
            <a:ext cx="8099640" cy="114876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grpSp>
        <p:nvGrpSpPr>
          <p:cNvPr id="13" name="Google Shape;85;p16"/>
          <p:cNvGrpSpPr/>
          <p:nvPr/>
        </p:nvGrpSpPr>
        <p:grpSpPr>
          <a:xfrm>
            <a:off x="300240" y="2857680"/>
            <a:ext cx="4029840" cy="1362240"/>
            <a:chOff x="300240" y="2857680"/>
            <a:chExt cx="4029840" cy="1362240"/>
          </a:xfrm>
        </p:grpSpPr>
        <p:cxnSp>
          <p:nvCxnSpPr>
            <p:cNvPr id="14" name="Google Shape;86;p16"/>
            <p:cNvCxnSpPr>
              <a:stCxn id="15" idx="2"/>
            </p:cNvCxnSpPr>
            <p:nvPr/>
          </p:nvCxnSpPr>
          <p:spPr>
            <a:xfrm>
              <a:off x="1662480" y="3538800"/>
              <a:ext cx="2667960" cy="360"/>
            </a:xfrm>
            <a:prstGeom prst="straightConnector1">
              <a:avLst/>
            </a:prstGeom>
            <a:ln w="9525">
              <a:solidFill>
                <a:srgbClr val="787788"/>
              </a:solidFill>
              <a:prstDash val="dash"/>
              <a:round/>
            </a:ln>
          </p:spPr>
        </p:cxnSp>
        <p:sp>
          <p:nvSpPr>
            <p:cNvPr id="15" name="Google Shape;87;p16"/>
            <p:cNvSpPr/>
            <p:nvPr/>
          </p:nvSpPr>
          <p:spPr>
            <a:xfrm flipH="1">
              <a:off x="300240" y="2857680"/>
              <a:ext cx="1362240" cy="1362240"/>
            </a:xfrm>
            <a:prstGeom prst="ellipse">
              <a:avLst/>
            </a:prstGeom>
            <a:noFill/>
            <a:ln w="9525">
              <a:solidFill>
                <a:srgbClr val="787788"/>
              </a:solidFill>
              <a:prstDash val="dash"/>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6" name="Google Shape;88;p16"/>
            <p:cNvSpPr/>
            <p:nvPr/>
          </p:nvSpPr>
          <p:spPr>
            <a:xfrm flipH="1">
              <a:off x="1127160" y="3025800"/>
              <a:ext cx="1025640" cy="1025640"/>
            </a:xfrm>
            <a:prstGeom prst="ellipse">
              <a:avLst/>
            </a:prstGeom>
            <a:noFill/>
            <a:ln w="9525">
              <a:solidFill>
                <a:srgbClr val="787788"/>
              </a:solidFill>
              <a:prstDash val="dash"/>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 bg1="lt1" tx1="dk1" bg2="dk2" tx2="lt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333360" y="399960"/>
            <a:ext cx="5648040" cy="38052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70000" lnSpcReduction="20000"/>
          </a:bodyPr>
          <a:lstStyle/>
          <a:p>
            <a:pPr defTabSz="914400">
              <a:lnSpc>
                <a:spcPct val="90000"/>
              </a:lnSpc>
              <a:tabLst>
                <a:tab pos="0" algn="l"/>
              </a:tabLst>
            </a:pPr>
            <a:r>
              <a:rPr lang="en-US" sz="3300" b="0" u="none" strike="noStrike">
                <a:solidFill>
                  <a:srgbClr val="FFFFFF"/>
                </a:solidFill>
                <a:effectLst/>
                <a:uFillTx/>
                <a:latin typeface="Albert Sans"/>
              </a:rPr>
              <a:t>Internship Report</a:t>
            </a:r>
            <a:endParaRPr lang="en-US" sz="3300" b="0" u="none" strike="noStrike">
              <a:solidFill>
                <a:srgbClr val="000000"/>
              </a:solidFill>
              <a:effectLst/>
              <a:uFillTx/>
              <a:latin typeface="OpenSymbol"/>
            </a:endParaRPr>
          </a:p>
        </p:txBody>
      </p:sp>
      <p:sp>
        <p:nvSpPr>
          <p:cNvPr id="42" name="Rectangle 41"/>
          <p:cNvSpPr/>
          <p:nvPr/>
        </p:nvSpPr>
        <p:spPr>
          <a:xfrm>
            <a:off x="399960" y="1771560"/>
            <a:ext cx="4924080" cy="533160"/>
          </a:xfrm>
          <a:prstGeom prst="rect">
            <a:avLst/>
          </a:prstGeom>
          <a:noFill/>
          <a:ln w="0">
            <a:noFill/>
          </a:ln>
        </p:spPr>
        <p:style>
          <a:lnRef idx="0">
            <a:scrgbClr r="0" g="0" b="0"/>
          </a:lnRef>
          <a:fillRef idx="0">
            <a:scrgbClr r="0" g="0" b="0"/>
          </a:fillRef>
          <a:effectRef idx="0">
            <a:scrgbClr r="0" g="0" b="0"/>
          </a:effectRef>
          <a:fontRef idx="minor"/>
        </p:style>
        <p:txBody>
          <a:bodyPr anchor="b">
            <a:normAutofit/>
          </a:bodyPr>
          <a:lstStyle/>
          <a:p>
            <a:pPr defTabSz="914400">
              <a:lnSpc>
                <a:spcPct val="150000"/>
              </a:lnSpc>
              <a:tabLst>
                <a:tab pos="0" algn="l"/>
              </a:tabLst>
            </a:pPr>
            <a:r>
              <a:rPr lang="en-US" sz="1400" b="0" u="none" strike="noStrike">
                <a:solidFill>
                  <a:srgbClr val="FFFFFF"/>
                </a:solidFill>
                <a:effectLst/>
                <a:uFillTx/>
                <a:latin typeface="DM Sans Light"/>
              </a:rPr>
              <a:t>NLP-based customer support — ML Engineer at Pratinik Infotech</a:t>
            </a:r>
            <a:endParaRPr lang="en-US" sz="1400" b="0" u="none" strike="noStrike">
              <a:solidFill>
                <a:srgbClr val="000000"/>
              </a:solidFill>
              <a:effectLst/>
              <a:uFillTx/>
              <a:latin typeface="OpenSymbo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p:cNvSpPr/>
          <p:nvPr/>
        </p:nvSpPr>
        <p:spPr>
          <a:xfrm>
            <a:off x="333360" y="304920"/>
            <a:ext cx="8096040" cy="38052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70000" lnSpcReduction="20000"/>
          </a:bodyPr>
          <a:lstStyle/>
          <a:p>
            <a:pPr defTabSz="914400">
              <a:lnSpc>
                <a:spcPct val="90000"/>
              </a:lnSpc>
              <a:tabLst>
                <a:tab pos="0" algn="l"/>
              </a:tabLst>
            </a:pPr>
            <a:r>
              <a:rPr lang="en-US" sz="3300" b="0" u="none" strike="noStrike">
                <a:solidFill>
                  <a:srgbClr val="FFFFFF"/>
                </a:solidFill>
                <a:effectLst/>
                <a:uFillTx/>
                <a:latin typeface="Albert Sans"/>
              </a:rPr>
              <a:t>Prototype Ready</a:t>
            </a:r>
            <a:endParaRPr lang="en-US" sz="3300" b="0" u="none" strike="noStrike">
              <a:solidFill>
                <a:srgbClr val="000000"/>
              </a:solidFill>
              <a:effectLst/>
              <a:uFillTx/>
              <a:latin typeface="OpenSymbol"/>
            </a:endParaRPr>
          </a:p>
        </p:txBody>
      </p:sp>
      <p:sp>
        <p:nvSpPr>
          <p:cNvPr id="44" name="Rectangle 43"/>
          <p:cNvSpPr/>
          <p:nvPr/>
        </p:nvSpPr>
        <p:spPr>
          <a:xfrm>
            <a:off x="4457880" y="504720"/>
            <a:ext cx="4247640" cy="1599840"/>
          </a:xfrm>
          <a:prstGeom prst="rect">
            <a:avLst/>
          </a:prstGeom>
          <a:noFill/>
          <a:ln w="0">
            <a:noFill/>
          </a:ln>
        </p:spPr>
        <p:style>
          <a:lnRef idx="0">
            <a:scrgbClr r="0" g="0" b="0"/>
          </a:lnRef>
          <a:fillRef idx="0">
            <a:scrgbClr r="0" g="0" b="0"/>
          </a:fillRef>
          <a:effectRef idx="0">
            <a:scrgbClr r="0" g="0" b="0"/>
          </a:effectRef>
          <a:fontRef idx="minor"/>
        </p:style>
        <p:txBody>
          <a:bodyPr anchor="b">
            <a:normAutofit fontScale="92500"/>
          </a:bodyPr>
          <a:lstStyle/>
          <a:p>
            <a:pPr defTabSz="914400">
              <a:lnSpc>
                <a:spcPct val="150000"/>
              </a:lnSpc>
              <a:tabLst>
                <a:tab pos="0" algn="l"/>
              </a:tabLst>
            </a:pPr>
            <a:r>
              <a:rPr lang="en-US" sz="1200" b="0" u="none" strike="noStrike">
                <a:solidFill>
                  <a:srgbClr val="FFFFFF"/>
                </a:solidFill>
                <a:effectLst/>
                <a:uFillTx/>
                <a:latin typeface="DM Sans Light"/>
              </a:rPr>
              <a:t>End-to-end NLP pipeline and interactive demo delivered within 2 months. The prototype meets production-feasible performance, with an estimated 35% reduction in Average Response Time for common intent tickets. Current blockers are data scale and deployment hardening. Immediate needs: additional labeled data and production-readiness work before rollout.</a:t>
            </a:r>
            <a:endParaRPr lang="en-US" sz="1200" b="0" u="none" strike="noStrike">
              <a:solidFill>
                <a:srgbClr val="000000"/>
              </a:solidFill>
              <a:effectLst/>
              <a:uFillTx/>
              <a:latin typeface="OpenSymbo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image_0:slide_img_nGpNhk.jpg"/>
          <p:cNvSpPr/>
          <p:nvPr/>
        </p:nvSpPr>
        <p:spPr>
          <a:xfrm>
            <a:off x="5619600" y="133200"/>
            <a:ext cx="3390480" cy="4876560"/>
          </a:xfrm>
          <a:prstGeom prst="roundRect">
            <a:avLst>
              <a:gd name="adj" fmla="val 6782"/>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46" name="Rectangle 45"/>
          <p:cNvSpPr/>
          <p:nvPr/>
        </p:nvSpPr>
        <p:spPr>
          <a:xfrm>
            <a:off x="333360" y="314280"/>
            <a:ext cx="4295520" cy="38052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70000" lnSpcReduction="20000"/>
          </a:bodyPr>
          <a:lstStyle/>
          <a:p>
            <a:pPr defTabSz="914400">
              <a:lnSpc>
                <a:spcPct val="90000"/>
              </a:lnSpc>
              <a:tabLst>
                <a:tab pos="0" algn="l"/>
              </a:tabLst>
            </a:pPr>
            <a:r>
              <a:rPr lang="en-US" sz="3300" b="0" u="none" strike="noStrike">
                <a:solidFill>
                  <a:srgbClr val="FFFFFF"/>
                </a:solidFill>
                <a:effectLst/>
                <a:uFillTx/>
                <a:latin typeface="Albert Sans"/>
              </a:rPr>
              <a:t>Intent and Replies</a:t>
            </a:r>
            <a:endParaRPr lang="en-US" sz="3300" b="0" u="none" strike="noStrike">
              <a:solidFill>
                <a:srgbClr val="000000"/>
              </a:solidFill>
              <a:effectLst/>
              <a:uFillTx/>
              <a:latin typeface="OpenSymbol"/>
            </a:endParaRPr>
          </a:p>
        </p:txBody>
      </p:sp>
      <p:sp>
        <p:nvSpPr>
          <p:cNvPr id="47" name="Rectangle 46"/>
          <p:cNvSpPr/>
          <p:nvPr/>
        </p:nvSpPr>
        <p:spPr>
          <a:xfrm>
            <a:off x="333360" y="1085760"/>
            <a:ext cx="4295520" cy="1980720"/>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10000"/>
          </a:bodyPr>
          <a:lstStyle/>
          <a:p>
            <a:pPr defTabSz="914400">
              <a:lnSpc>
                <a:spcPct val="150000"/>
              </a:lnSpc>
              <a:tabLst>
                <a:tab pos="0" algn="l"/>
              </a:tabLst>
            </a:pPr>
            <a:r>
              <a:rPr lang="en-US" sz="1200" b="0" u="none" strike="noStrike">
                <a:solidFill>
                  <a:srgbClr val="FFFFFF"/>
                </a:solidFill>
                <a:effectLst/>
                <a:uFillTx/>
                <a:latin typeface="DM Sans Light"/>
              </a:rPr>
              <a:t>Project objective: Classify customer intents and suggest replies using historical tickets to accelerate support handling. Scope covers intent classification and reply suggestions for the top 10 support categories. Dataset comprises 12,000 anonymized tickets from Pratinik Infotech (subject, body, tags, resolution). Labeling combines rule-based pre-labeling with manual verification, yielding ~12% in</a:t>
            </a:r>
            <a:endParaRPr lang="en-US" sz="1200" b="0" u="none" strike="noStrike">
              <a:solidFill>
                <a:srgbClr val="000000"/>
              </a:solidFill>
              <a:effectLst/>
              <a:uFillTx/>
              <a:latin typeface="OpenSymbo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 name="Google Shape;163;p29"/>
          <p:cNvPicPr/>
          <p:nvPr/>
        </p:nvPicPr>
        <p:blipFill>
          <a:blip r:embed="rId2"/>
          <a:stretch/>
        </p:blipFill>
        <p:spPr>
          <a:xfrm>
            <a:off x="8106840" y="4953240"/>
            <a:ext cx="861480" cy="131400"/>
          </a:xfrm>
          <a:prstGeom prst="rect">
            <a:avLst/>
          </a:prstGeom>
          <a:noFill/>
          <a:ln w="0">
            <a:noFill/>
          </a:ln>
        </p:spPr>
      </p:pic>
      <p:sp>
        <p:nvSpPr>
          <p:cNvPr id="49" name="Rectangle: Rounded Corners 48"/>
          <p:cNvSpPr/>
          <p:nvPr/>
        </p:nvSpPr>
        <p:spPr>
          <a:xfrm>
            <a:off x="1962000" y="2152800"/>
            <a:ext cx="104400" cy="9000"/>
          </a:xfrm>
          <a:prstGeom prst="roundRect">
            <a:avLst>
              <a:gd name="adj" fmla="val 16667"/>
            </a:avLst>
          </a:prstGeom>
          <a:solidFill>
            <a:srgbClr val="787788"/>
          </a:solidFill>
          <a:ln w="0">
            <a:noFill/>
          </a:ln>
        </p:spPr>
        <p:style>
          <a:lnRef idx="0">
            <a:scrgbClr r="0" g="0" b="0"/>
          </a:lnRef>
          <a:fillRef idx="0">
            <a:scrgbClr r="0" g="0" b="0"/>
          </a:fillRef>
          <a:effectRef idx="0">
            <a:scrgbClr r="0" g="0" b="0"/>
          </a:effectRef>
          <a:fontRef idx="minor"/>
        </p:style>
        <p:txBody>
          <a:bodyPr vertOverflow="clip" lIns="90000" tIns="-36720" rIns="90000" bIns="-3672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50" name="Rectangle: Rounded Corners 49"/>
          <p:cNvSpPr/>
          <p:nvPr/>
        </p:nvSpPr>
        <p:spPr>
          <a:xfrm>
            <a:off x="3209760" y="2152800"/>
            <a:ext cx="104400" cy="9000"/>
          </a:xfrm>
          <a:prstGeom prst="roundRect">
            <a:avLst>
              <a:gd name="adj" fmla="val 16667"/>
            </a:avLst>
          </a:prstGeom>
          <a:solidFill>
            <a:srgbClr val="787788"/>
          </a:solidFill>
          <a:ln w="0">
            <a:noFill/>
          </a:ln>
        </p:spPr>
        <p:style>
          <a:lnRef idx="0">
            <a:scrgbClr r="0" g="0" b="0"/>
          </a:lnRef>
          <a:fillRef idx="0">
            <a:scrgbClr r="0" g="0" b="0"/>
          </a:fillRef>
          <a:effectRef idx="0">
            <a:scrgbClr r="0" g="0" b="0"/>
          </a:effectRef>
          <a:fontRef idx="minor"/>
        </p:style>
        <p:txBody>
          <a:bodyPr vertOverflow="clip" lIns="90000" tIns="-36720" rIns="90000" bIns="-3672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51" name="Rectangle: Rounded Corners 50"/>
          <p:cNvSpPr/>
          <p:nvPr/>
        </p:nvSpPr>
        <p:spPr>
          <a:xfrm>
            <a:off x="4457880" y="2152800"/>
            <a:ext cx="104400" cy="9000"/>
          </a:xfrm>
          <a:prstGeom prst="roundRect">
            <a:avLst>
              <a:gd name="adj" fmla="val 16667"/>
            </a:avLst>
          </a:prstGeom>
          <a:solidFill>
            <a:srgbClr val="787788"/>
          </a:solidFill>
          <a:ln w="0">
            <a:noFill/>
          </a:ln>
        </p:spPr>
        <p:style>
          <a:lnRef idx="0">
            <a:scrgbClr r="0" g="0" b="0"/>
          </a:lnRef>
          <a:fillRef idx="0">
            <a:scrgbClr r="0" g="0" b="0"/>
          </a:fillRef>
          <a:effectRef idx="0">
            <a:scrgbClr r="0" g="0" b="0"/>
          </a:effectRef>
          <a:fontRef idx="minor"/>
        </p:style>
        <p:txBody>
          <a:bodyPr vertOverflow="clip" lIns="90000" tIns="-36720" rIns="90000" bIns="-3672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52" name="Rectangle: Rounded Corners 51"/>
          <p:cNvSpPr/>
          <p:nvPr/>
        </p:nvSpPr>
        <p:spPr>
          <a:xfrm>
            <a:off x="5705640" y="2152800"/>
            <a:ext cx="104400" cy="9000"/>
          </a:xfrm>
          <a:prstGeom prst="roundRect">
            <a:avLst>
              <a:gd name="adj" fmla="val 16667"/>
            </a:avLst>
          </a:prstGeom>
          <a:solidFill>
            <a:srgbClr val="787788"/>
          </a:solidFill>
          <a:ln w="0">
            <a:noFill/>
          </a:ln>
        </p:spPr>
        <p:style>
          <a:lnRef idx="0">
            <a:scrgbClr r="0" g="0" b="0"/>
          </a:lnRef>
          <a:fillRef idx="0">
            <a:scrgbClr r="0" g="0" b="0"/>
          </a:fillRef>
          <a:effectRef idx="0">
            <a:scrgbClr r="0" g="0" b="0"/>
          </a:effectRef>
          <a:fontRef idx="minor"/>
        </p:style>
        <p:txBody>
          <a:bodyPr vertOverflow="clip" lIns="90000" tIns="-36720" rIns="90000" bIns="-3672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53" name="Rectangle: Rounded Corners 52"/>
          <p:cNvSpPr/>
          <p:nvPr/>
        </p:nvSpPr>
        <p:spPr>
          <a:xfrm>
            <a:off x="6953400" y="2152800"/>
            <a:ext cx="104400" cy="9000"/>
          </a:xfrm>
          <a:prstGeom prst="roundRect">
            <a:avLst>
              <a:gd name="adj" fmla="val 16667"/>
            </a:avLst>
          </a:prstGeom>
          <a:solidFill>
            <a:srgbClr val="787788"/>
          </a:solidFill>
          <a:ln w="0">
            <a:noFill/>
          </a:ln>
        </p:spPr>
        <p:style>
          <a:lnRef idx="0">
            <a:scrgbClr r="0" g="0" b="0"/>
          </a:lnRef>
          <a:fillRef idx="0">
            <a:scrgbClr r="0" g="0" b="0"/>
          </a:fillRef>
          <a:effectRef idx="0">
            <a:scrgbClr r="0" g="0" b="0"/>
          </a:effectRef>
          <a:fontRef idx="minor"/>
        </p:style>
        <p:txBody>
          <a:bodyPr vertOverflow="clip" lIns="90000" tIns="-36720" rIns="90000" bIns="-3672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54" name="Rectangle: Rounded Corners 53"/>
          <p:cNvSpPr/>
          <p:nvPr/>
        </p:nvSpPr>
        <p:spPr>
          <a:xfrm>
            <a:off x="819000" y="2066760"/>
            <a:ext cx="1142640" cy="180720"/>
          </a:xfrm>
          <a:prstGeom prst="roundRect">
            <a:avLst>
              <a:gd name="adj" fmla="val 16667"/>
            </a:avLst>
          </a:prstGeom>
          <a:solidFill>
            <a:srgbClr val="212835"/>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55" name="Rectangle: Rounded Corners 54"/>
          <p:cNvSpPr/>
          <p:nvPr/>
        </p:nvSpPr>
        <p:spPr>
          <a:xfrm>
            <a:off x="1380960" y="2247840"/>
            <a:ext cx="9000" cy="285480"/>
          </a:xfrm>
          <a:prstGeom prst="roundRect">
            <a:avLst>
              <a:gd name="adj" fmla="val 16667"/>
            </a:avLst>
          </a:prstGeom>
          <a:solidFill>
            <a:srgbClr val="787788"/>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56" name="Rectangle: Rounded Corners 55"/>
          <p:cNvSpPr/>
          <p:nvPr/>
        </p:nvSpPr>
        <p:spPr>
          <a:xfrm>
            <a:off x="2066760" y="2066760"/>
            <a:ext cx="1142640" cy="180720"/>
          </a:xfrm>
          <a:prstGeom prst="roundRect">
            <a:avLst>
              <a:gd name="adj" fmla="val 16667"/>
            </a:avLst>
          </a:prstGeom>
          <a:solidFill>
            <a:srgbClr val="212835"/>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57" name="Rectangle: Rounded Corners 56"/>
          <p:cNvSpPr/>
          <p:nvPr/>
        </p:nvSpPr>
        <p:spPr>
          <a:xfrm>
            <a:off x="2638440" y="2247840"/>
            <a:ext cx="9000" cy="285480"/>
          </a:xfrm>
          <a:prstGeom prst="roundRect">
            <a:avLst>
              <a:gd name="adj" fmla="val 16667"/>
            </a:avLst>
          </a:prstGeom>
          <a:solidFill>
            <a:srgbClr val="787788"/>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58" name="Rectangle: Rounded Corners 57"/>
          <p:cNvSpPr/>
          <p:nvPr/>
        </p:nvSpPr>
        <p:spPr>
          <a:xfrm>
            <a:off x="3314880" y="2066760"/>
            <a:ext cx="1142640" cy="180720"/>
          </a:xfrm>
          <a:prstGeom prst="roundRect">
            <a:avLst>
              <a:gd name="adj" fmla="val 16667"/>
            </a:avLst>
          </a:prstGeom>
          <a:solidFill>
            <a:srgbClr val="212835"/>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59" name="Rectangle: Rounded Corners 58"/>
          <p:cNvSpPr/>
          <p:nvPr/>
        </p:nvSpPr>
        <p:spPr>
          <a:xfrm>
            <a:off x="3886200" y="2247840"/>
            <a:ext cx="9000" cy="285480"/>
          </a:xfrm>
          <a:prstGeom prst="roundRect">
            <a:avLst>
              <a:gd name="adj" fmla="val 16667"/>
            </a:avLst>
          </a:prstGeom>
          <a:solidFill>
            <a:srgbClr val="787788"/>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60" name="Rectangle: Rounded Corners 59"/>
          <p:cNvSpPr/>
          <p:nvPr/>
        </p:nvSpPr>
        <p:spPr>
          <a:xfrm>
            <a:off x="4562640" y="2066760"/>
            <a:ext cx="1142640" cy="180720"/>
          </a:xfrm>
          <a:prstGeom prst="roundRect">
            <a:avLst>
              <a:gd name="adj" fmla="val 16667"/>
            </a:avLst>
          </a:prstGeom>
          <a:solidFill>
            <a:srgbClr val="212835"/>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61" name="Rectangle: Rounded Corners 60"/>
          <p:cNvSpPr/>
          <p:nvPr/>
        </p:nvSpPr>
        <p:spPr>
          <a:xfrm>
            <a:off x="5133960" y="2247840"/>
            <a:ext cx="9000" cy="285480"/>
          </a:xfrm>
          <a:prstGeom prst="roundRect">
            <a:avLst>
              <a:gd name="adj" fmla="val 16667"/>
            </a:avLst>
          </a:prstGeom>
          <a:solidFill>
            <a:srgbClr val="787788"/>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62" name="Rectangle: Rounded Corners 61"/>
          <p:cNvSpPr/>
          <p:nvPr/>
        </p:nvSpPr>
        <p:spPr>
          <a:xfrm>
            <a:off x="5810400" y="2066760"/>
            <a:ext cx="1142640" cy="180720"/>
          </a:xfrm>
          <a:prstGeom prst="roundRect">
            <a:avLst>
              <a:gd name="adj" fmla="val 16667"/>
            </a:avLst>
          </a:prstGeom>
          <a:solidFill>
            <a:srgbClr val="212835"/>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63" name="Rectangle: Rounded Corners 62"/>
          <p:cNvSpPr/>
          <p:nvPr/>
        </p:nvSpPr>
        <p:spPr>
          <a:xfrm>
            <a:off x="6381720" y="2247840"/>
            <a:ext cx="9000" cy="285480"/>
          </a:xfrm>
          <a:prstGeom prst="roundRect">
            <a:avLst>
              <a:gd name="adj" fmla="val 16667"/>
            </a:avLst>
          </a:prstGeom>
          <a:solidFill>
            <a:srgbClr val="787788"/>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64" name="Rectangle: Rounded Corners 63"/>
          <p:cNvSpPr/>
          <p:nvPr/>
        </p:nvSpPr>
        <p:spPr>
          <a:xfrm>
            <a:off x="7058160" y="2066760"/>
            <a:ext cx="1142640" cy="180720"/>
          </a:xfrm>
          <a:prstGeom prst="roundRect">
            <a:avLst>
              <a:gd name="adj" fmla="val 16667"/>
            </a:avLst>
          </a:prstGeom>
          <a:solidFill>
            <a:srgbClr val="212835"/>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65" name="Rectangle: Rounded Corners 64"/>
          <p:cNvSpPr/>
          <p:nvPr/>
        </p:nvSpPr>
        <p:spPr>
          <a:xfrm>
            <a:off x="7629480" y="2247840"/>
            <a:ext cx="9000" cy="285480"/>
          </a:xfrm>
          <a:prstGeom prst="roundRect">
            <a:avLst>
              <a:gd name="adj" fmla="val 16667"/>
            </a:avLst>
          </a:prstGeom>
          <a:solidFill>
            <a:srgbClr val="787788"/>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66" name="Rectangle 65"/>
          <p:cNvSpPr/>
          <p:nvPr/>
        </p:nvSpPr>
        <p:spPr>
          <a:xfrm>
            <a:off x="819000" y="628560"/>
            <a:ext cx="7505280" cy="3996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19999"/>
          </a:bodyPr>
          <a:lstStyle/>
          <a:p>
            <a:pPr defTabSz="914400">
              <a:lnSpc>
                <a:spcPct val="100000"/>
              </a:lnSpc>
              <a:tabLst>
                <a:tab pos="0" algn="l"/>
              </a:tabLst>
            </a:pPr>
            <a:r>
              <a:rPr lang="en-US" sz="2600" b="0" u="none" strike="noStrike">
                <a:solidFill>
                  <a:srgbClr val="787788"/>
                </a:solidFill>
                <a:effectLst/>
                <a:uFillTx/>
                <a:latin typeface="Albert Sans"/>
              </a:rPr>
              <a:t>Repro Pipeline</a:t>
            </a:r>
            <a:endParaRPr lang="en-US" sz="2600" b="0" u="none" strike="noStrike">
              <a:solidFill>
                <a:srgbClr val="000000"/>
              </a:solidFill>
              <a:effectLst/>
              <a:uFillTx/>
              <a:latin typeface="OpenSymbol"/>
            </a:endParaRPr>
          </a:p>
        </p:txBody>
      </p:sp>
      <p:sp>
        <p:nvSpPr>
          <p:cNvPr id="67" name="Rectangle 66"/>
          <p:cNvSpPr/>
          <p:nvPr/>
        </p:nvSpPr>
        <p:spPr>
          <a:xfrm>
            <a:off x="819000" y="1371600"/>
            <a:ext cx="1142640" cy="5806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400" b="0" u="none" strike="noStrike">
                <a:solidFill>
                  <a:srgbClr val="787788"/>
                </a:solidFill>
                <a:effectLst/>
                <a:uFillTx/>
                <a:latin typeface="Albert Sans"/>
              </a:rPr>
              <a:t>Data Ingest</a:t>
            </a:r>
            <a:endParaRPr lang="en-US" sz="1400" b="0" u="none" strike="noStrike">
              <a:solidFill>
                <a:srgbClr val="000000"/>
              </a:solidFill>
              <a:effectLst/>
              <a:uFillTx/>
              <a:latin typeface="OpenSymbol"/>
            </a:endParaRPr>
          </a:p>
        </p:txBody>
      </p:sp>
      <p:sp>
        <p:nvSpPr>
          <p:cNvPr id="68" name="Rectangle 67"/>
          <p:cNvSpPr/>
          <p:nvPr/>
        </p:nvSpPr>
        <p:spPr>
          <a:xfrm>
            <a:off x="819000" y="2610000"/>
            <a:ext cx="1142640" cy="1647360"/>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10000"/>
          </a:bodyPr>
          <a:lstStyle/>
          <a:p>
            <a:pPr algn="ctr" defTabSz="914400">
              <a:lnSpc>
                <a:spcPct val="100000"/>
              </a:lnSpc>
              <a:tabLst>
                <a:tab pos="0" algn="l"/>
              </a:tabLst>
            </a:pPr>
            <a:r>
              <a:rPr lang="en-US" sz="1200" b="0" u="none" strike="noStrike">
                <a:solidFill>
                  <a:srgbClr val="787788"/>
                </a:solidFill>
                <a:effectLst/>
                <a:uFillTx/>
                <a:latin typeface="DM Sans Light"/>
              </a:rPr>
              <a:t>Ingests raw data with Python and pandas to ensure a consistent, version-controlled source.</a:t>
            </a:r>
            <a:endParaRPr lang="en-US" sz="1200" b="0" u="none" strike="noStrike">
              <a:solidFill>
                <a:srgbClr val="000000"/>
              </a:solidFill>
              <a:effectLst/>
              <a:uFillTx/>
              <a:latin typeface="OpenSymbol"/>
            </a:endParaRPr>
          </a:p>
        </p:txBody>
      </p:sp>
      <p:sp>
        <p:nvSpPr>
          <p:cNvPr id="69" name="Rectangle 68"/>
          <p:cNvSpPr/>
          <p:nvPr/>
        </p:nvSpPr>
        <p:spPr>
          <a:xfrm>
            <a:off x="2066760" y="1371600"/>
            <a:ext cx="1142640" cy="20916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70000" lnSpcReduction="20000"/>
          </a:bodyPr>
          <a:lstStyle/>
          <a:p>
            <a:pPr algn="ctr" defTabSz="914400">
              <a:lnSpc>
                <a:spcPct val="100000"/>
              </a:lnSpc>
              <a:tabLst>
                <a:tab pos="0" algn="l"/>
              </a:tabLst>
            </a:pPr>
            <a:r>
              <a:rPr lang="en-US" sz="1400" b="0" u="none" strike="noStrike">
                <a:solidFill>
                  <a:srgbClr val="787788"/>
                </a:solidFill>
                <a:effectLst/>
                <a:uFillTx/>
                <a:latin typeface="Albert Sans"/>
              </a:rPr>
              <a:t>Preprocess</a:t>
            </a:r>
            <a:endParaRPr lang="en-US" sz="1400" b="0" u="none" strike="noStrike">
              <a:solidFill>
                <a:srgbClr val="000000"/>
              </a:solidFill>
              <a:effectLst/>
              <a:uFillTx/>
              <a:latin typeface="OpenSymbol"/>
            </a:endParaRPr>
          </a:p>
        </p:txBody>
      </p:sp>
      <p:sp>
        <p:nvSpPr>
          <p:cNvPr id="70" name="Rectangle 69"/>
          <p:cNvSpPr/>
          <p:nvPr/>
        </p:nvSpPr>
        <p:spPr>
          <a:xfrm>
            <a:off x="2066760" y="2610000"/>
            <a:ext cx="114264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200" b="0" u="none" strike="noStrike">
                <a:solidFill>
                  <a:srgbClr val="787788"/>
                </a:solidFill>
                <a:effectLst/>
                <a:uFillTx/>
                <a:latin typeface="DM Sans Light"/>
              </a:rPr>
              <a:t>Cleans text, tokenizes, and normalizes to a stable input for modeling.</a:t>
            </a:r>
            <a:endParaRPr lang="en-US" sz="1200" b="0" u="none" strike="noStrike">
              <a:solidFill>
                <a:srgbClr val="000000"/>
              </a:solidFill>
              <a:effectLst/>
              <a:uFillTx/>
              <a:latin typeface="OpenSymbol"/>
            </a:endParaRPr>
          </a:p>
        </p:txBody>
      </p:sp>
      <p:sp>
        <p:nvSpPr>
          <p:cNvPr id="71" name="Rectangle 70"/>
          <p:cNvSpPr/>
          <p:nvPr/>
        </p:nvSpPr>
        <p:spPr>
          <a:xfrm>
            <a:off x="3314880" y="1371600"/>
            <a:ext cx="1142640" cy="5806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400" b="0" u="none" strike="noStrike">
                <a:solidFill>
                  <a:srgbClr val="787788"/>
                </a:solidFill>
                <a:effectLst/>
                <a:uFillTx/>
                <a:latin typeface="Albert Sans"/>
              </a:rPr>
              <a:t>Feature Eng</a:t>
            </a:r>
            <a:endParaRPr lang="en-US" sz="1400" b="0" u="none" strike="noStrike">
              <a:solidFill>
                <a:srgbClr val="000000"/>
              </a:solidFill>
              <a:effectLst/>
              <a:uFillTx/>
              <a:latin typeface="OpenSymbol"/>
            </a:endParaRPr>
          </a:p>
        </p:txBody>
      </p:sp>
      <p:sp>
        <p:nvSpPr>
          <p:cNvPr id="72" name="Rectangle 71"/>
          <p:cNvSpPr/>
          <p:nvPr/>
        </p:nvSpPr>
        <p:spPr>
          <a:xfrm>
            <a:off x="3314880" y="2610000"/>
            <a:ext cx="1142640" cy="1095120"/>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10000"/>
          </a:bodyPr>
          <a:lstStyle/>
          <a:p>
            <a:pPr algn="ctr" defTabSz="914400">
              <a:lnSpc>
                <a:spcPct val="100000"/>
              </a:lnSpc>
              <a:tabLst>
                <a:tab pos="0" algn="l"/>
              </a:tabLst>
            </a:pPr>
            <a:r>
              <a:rPr lang="en-US" sz="1200" b="0" u="none" strike="noStrike">
                <a:solidFill>
                  <a:srgbClr val="787788"/>
                </a:solidFill>
                <a:effectLst/>
                <a:uFillTx/>
                <a:latin typeface="DM Sans Light"/>
              </a:rPr>
              <a:t>Generates TF‑IDF, n-grams, and basic spaCy embeddings to capture signal.</a:t>
            </a:r>
            <a:endParaRPr lang="en-US" sz="1200" b="0" u="none" strike="noStrike">
              <a:solidFill>
                <a:srgbClr val="000000"/>
              </a:solidFill>
              <a:effectLst/>
              <a:uFillTx/>
              <a:latin typeface="OpenSymbol"/>
            </a:endParaRPr>
          </a:p>
        </p:txBody>
      </p:sp>
      <p:sp>
        <p:nvSpPr>
          <p:cNvPr id="73" name="Rectangle 72"/>
          <p:cNvSpPr/>
          <p:nvPr/>
        </p:nvSpPr>
        <p:spPr>
          <a:xfrm>
            <a:off x="4562640" y="1371600"/>
            <a:ext cx="1142640" cy="5806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400" b="0" u="none" strike="noStrike">
                <a:solidFill>
                  <a:srgbClr val="787788"/>
                </a:solidFill>
                <a:effectLst/>
                <a:uFillTx/>
                <a:latin typeface="Albert Sans"/>
              </a:rPr>
              <a:t>Model Train</a:t>
            </a:r>
            <a:endParaRPr lang="en-US" sz="1400" b="0" u="none" strike="noStrike">
              <a:solidFill>
                <a:srgbClr val="000000"/>
              </a:solidFill>
              <a:effectLst/>
              <a:uFillTx/>
              <a:latin typeface="OpenSymbol"/>
            </a:endParaRPr>
          </a:p>
        </p:txBody>
      </p:sp>
      <p:sp>
        <p:nvSpPr>
          <p:cNvPr id="74" name="Rectangle 73"/>
          <p:cNvSpPr/>
          <p:nvPr/>
        </p:nvSpPr>
        <p:spPr>
          <a:xfrm>
            <a:off x="4562640" y="2610000"/>
            <a:ext cx="1142640" cy="12758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a:bodyPr>
          <a:lstStyle/>
          <a:p>
            <a:pPr algn="ctr" defTabSz="914400">
              <a:lnSpc>
                <a:spcPct val="100000"/>
              </a:lnSpc>
              <a:tabLst>
                <a:tab pos="0" algn="l"/>
              </a:tabLst>
            </a:pPr>
            <a:r>
              <a:rPr lang="en-US" sz="1200" b="0" u="none" strike="noStrike">
                <a:solidFill>
                  <a:srgbClr val="787788"/>
                </a:solidFill>
                <a:effectLst/>
                <a:uFillTx/>
                <a:latin typeface="DM Sans Light"/>
              </a:rPr>
              <a:t>Trains classifiers (Logistic, RF, SVM) with baseline experiments for reproducibility.</a:t>
            </a:r>
            <a:endParaRPr lang="en-US" sz="1200" b="0" u="none" strike="noStrike">
              <a:solidFill>
                <a:srgbClr val="000000"/>
              </a:solidFill>
              <a:effectLst/>
              <a:uFillTx/>
              <a:latin typeface="OpenSymbol"/>
            </a:endParaRPr>
          </a:p>
        </p:txBody>
      </p:sp>
      <p:sp>
        <p:nvSpPr>
          <p:cNvPr id="75" name="Rectangle 74"/>
          <p:cNvSpPr/>
          <p:nvPr/>
        </p:nvSpPr>
        <p:spPr>
          <a:xfrm>
            <a:off x="5810400" y="1371600"/>
            <a:ext cx="1142640" cy="20916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70000" lnSpcReduction="20000"/>
          </a:bodyPr>
          <a:lstStyle/>
          <a:p>
            <a:pPr algn="ctr" defTabSz="914400">
              <a:lnSpc>
                <a:spcPct val="100000"/>
              </a:lnSpc>
              <a:tabLst>
                <a:tab pos="0" algn="l"/>
              </a:tabLst>
            </a:pPr>
            <a:r>
              <a:rPr lang="en-US" sz="1400" b="0" u="none" strike="noStrike">
                <a:solidFill>
                  <a:srgbClr val="787788"/>
                </a:solidFill>
                <a:effectLst/>
                <a:uFillTx/>
                <a:latin typeface="Albert Sans"/>
              </a:rPr>
              <a:t>Evaluation</a:t>
            </a:r>
            <a:endParaRPr lang="en-US" sz="1400" b="0" u="none" strike="noStrike">
              <a:solidFill>
                <a:srgbClr val="000000"/>
              </a:solidFill>
              <a:effectLst/>
              <a:uFillTx/>
              <a:latin typeface="OpenSymbol"/>
            </a:endParaRPr>
          </a:p>
        </p:txBody>
      </p:sp>
      <p:sp>
        <p:nvSpPr>
          <p:cNvPr id="76" name="Rectangle 75"/>
          <p:cNvSpPr/>
          <p:nvPr/>
        </p:nvSpPr>
        <p:spPr>
          <a:xfrm>
            <a:off x="5810400" y="2610000"/>
            <a:ext cx="1142640" cy="1618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200" b="0" u="none" strike="noStrike">
                <a:solidFill>
                  <a:srgbClr val="787788"/>
                </a:solidFill>
                <a:effectLst/>
                <a:uFillTx/>
                <a:latin typeface="DM Sans Light"/>
              </a:rPr>
              <a:t>Uses stratified 80/20 split and cross-validation to quantify performance.</a:t>
            </a:r>
            <a:endParaRPr lang="en-US" sz="1200" b="0" u="none" strike="noStrike">
              <a:solidFill>
                <a:srgbClr val="000000"/>
              </a:solidFill>
              <a:effectLst/>
              <a:uFillTx/>
              <a:latin typeface="OpenSymbol"/>
            </a:endParaRPr>
          </a:p>
        </p:txBody>
      </p:sp>
      <p:sp>
        <p:nvSpPr>
          <p:cNvPr id="77" name="Rectangle 76"/>
          <p:cNvSpPr/>
          <p:nvPr/>
        </p:nvSpPr>
        <p:spPr>
          <a:xfrm>
            <a:off x="7058160" y="1371600"/>
            <a:ext cx="1142640" cy="4284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20000"/>
          </a:bodyPr>
          <a:lstStyle/>
          <a:p>
            <a:pPr algn="ctr" defTabSz="914400">
              <a:lnSpc>
                <a:spcPct val="100000"/>
              </a:lnSpc>
              <a:tabLst>
                <a:tab pos="0" algn="l"/>
              </a:tabLst>
            </a:pPr>
            <a:r>
              <a:rPr lang="en-US" sz="1400" b="0" u="none" strike="noStrike">
                <a:solidFill>
                  <a:srgbClr val="787788"/>
                </a:solidFill>
                <a:effectLst/>
                <a:uFillTx/>
                <a:latin typeface="Albert Sans"/>
              </a:rPr>
              <a:t>Demo Integrate</a:t>
            </a:r>
            <a:endParaRPr lang="en-US" sz="1400" b="0" u="none" strike="noStrike">
              <a:solidFill>
                <a:srgbClr val="000000"/>
              </a:solidFill>
              <a:effectLst/>
              <a:uFillTx/>
              <a:latin typeface="OpenSymbol"/>
            </a:endParaRPr>
          </a:p>
        </p:txBody>
      </p:sp>
      <p:sp>
        <p:nvSpPr>
          <p:cNvPr id="78" name="Rectangle 77"/>
          <p:cNvSpPr/>
          <p:nvPr/>
        </p:nvSpPr>
        <p:spPr>
          <a:xfrm>
            <a:off x="7058160" y="2610000"/>
            <a:ext cx="1142640" cy="1275840"/>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10000"/>
          </a:bodyPr>
          <a:lstStyle/>
          <a:p>
            <a:pPr algn="ctr" defTabSz="914400">
              <a:lnSpc>
                <a:spcPct val="100000"/>
              </a:lnSpc>
              <a:tabLst>
                <a:tab pos="0" algn="l"/>
              </a:tabLst>
            </a:pPr>
            <a:r>
              <a:rPr lang="en-US" sz="1200" b="0" u="none" strike="noStrike">
                <a:solidFill>
                  <a:srgbClr val="787788"/>
                </a:solidFill>
                <a:effectLst/>
                <a:uFillTx/>
                <a:latin typeface="DM Sans Light"/>
              </a:rPr>
              <a:t>A Flask app with a REST endpoint demonstrates real-time inference (&lt;120 ms).</a:t>
            </a:r>
            <a:endParaRPr lang="en-US" sz="1200" b="0" u="none" strike="noStrike">
              <a:solidFill>
                <a:srgbClr val="000000"/>
              </a:solidFill>
              <a:effectLst/>
              <a:uFillTx/>
              <a:latin typeface="Open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Rectangle 78"/>
          <p:cNvSpPr/>
          <p:nvPr/>
        </p:nvSpPr>
        <p:spPr>
          <a:xfrm>
            <a:off x="819000" y="628560"/>
            <a:ext cx="750528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r>
              <a:rPr lang="en-US" sz="2400" b="0" u="none" strike="noStrike">
                <a:solidFill>
                  <a:srgbClr val="787788"/>
                </a:solidFill>
                <a:effectLst/>
                <a:uFillTx/>
                <a:latin typeface="Albert Sans"/>
              </a:rPr>
              <a:t>Model Performance Metrics</a:t>
            </a:r>
            <a:endParaRPr lang="en-US" sz="2400" b="0" u="none" strike="noStrike">
              <a:solidFill>
                <a:srgbClr val="000000"/>
              </a:solidFill>
              <a:effectLst/>
              <a:uFillTx/>
              <a:latin typeface="OpenSymbol"/>
            </a:endParaRPr>
          </a:p>
        </p:txBody>
      </p:sp>
      <p:sp>
        <p:nvSpPr>
          <p:cNvPr id="80" name="Rectangle 79"/>
          <p:cNvSpPr/>
          <p:nvPr/>
        </p:nvSpPr>
        <p:spPr>
          <a:xfrm>
            <a:off x="819000" y="1552680"/>
            <a:ext cx="2180880" cy="209160"/>
          </a:xfrm>
          <a:prstGeom prst="rect">
            <a:avLst/>
          </a:prstGeom>
          <a:noFill/>
          <a:ln w="0">
            <a:noFill/>
          </a:ln>
        </p:spPr>
        <p:style>
          <a:lnRef idx="0">
            <a:scrgbClr r="0" g="0" b="0"/>
          </a:lnRef>
          <a:fillRef idx="0">
            <a:scrgbClr r="0" g="0" b="0"/>
          </a:fillRef>
          <a:effectRef idx="0">
            <a:scrgbClr r="0" g="0" b="0"/>
          </a:effectRef>
          <a:fontRef idx="minor"/>
        </p:style>
        <p:txBody>
          <a:bodyPr anchor="ctr">
            <a:normAutofit fontScale="62500" lnSpcReduction="20000"/>
          </a:bodyPr>
          <a:lstStyle/>
          <a:p>
            <a:pPr defTabSz="914400">
              <a:lnSpc>
                <a:spcPct val="100000"/>
              </a:lnSpc>
              <a:tabLst>
                <a:tab pos="0" algn="l"/>
              </a:tabLst>
            </a:pPr>
            <a:r>
              <a:rPr lang="en-US" sz="1400" b="0" u="none" strike="noStrike">
                <a:solidFill>
                  <a:srgbClr val="787788"/>
                </a:solidFill>
                <a:effectLst/>
                <a:uFillTx/>
                <a:latin typeface="DM Sans Light"/>
              </a:rPr>
              <a:t>Labeled tickets</a:t>
            </a:r>
            <a:endParaRPr lang="en-US" sz="1400" b="0" u="none" strike="noStrike">
              <a:solidFill>
                <a:srgbClr val="000000"/>
              </a:solidFill>
              <a:effectLst/>
              <a:uFillTx/>
              <a:latin typeface="OpenSymbol"/>
            </a:endParaRPr>
          </a:p>
        </p:txBody>
      </p:sp>
      <p:sp>
        <p:nvSpPr>
          <p:cNvPr id="81" name="Rectangle 80"/>
          <p:cNvSpPr/>
          <p:nvPr/>
        </p:nvSpPr>
        <p:spPr>
          <a:xfrm>
            <a:off x="3171960" y="1552680"/>
            <a:ext cx="2361960" cy="361440"/>
          </a:xfrm>
          <a:prstGeom prst="rect">
            <a:avLst/>
          </a:prstGeom>
          <a:noFill/>
          <a:ln w="0">
            <a:noFill/>
          </a:ln>
        </p:spPr>
        <p:style>
          <a:lnRef idx="0">
            <a:scrgbClr r="0" g="0" b="0"/>
          </a:lnRef>
          <a:fillRef idx="0">
            <a:scrgbClr r="0" g="0" b="0"/>
          </a:fillRef>
          <a:effectRef idx="0">
            <a:scrgbClr r="0" g="0" b="0"/>
          </a:effectRef>
          <a:fontRef idx="minor"/>
        </p:style>
        <p:txBody>
          <a:bodyPr anchor="ctr">
            <a:normAutofit fontScale="85000" lnSpcReduction="19999"/>
          </a:bodyPr>
          <a:lstStyle/>
          <a:p>
            <a:pPr defTabSz="914400">
              <a:lnSpc>
                <a:spcPct val="100000"/>
              </a:lnSpc>
              <a:tabLst>
                <a:tab pos="0" algn="l"/>
              </a:tabLst>
            </a:pPr>
            <a:r>
              <a:rPr lang="en-US" sz="1200" b="0" u="none" strike="noStrike">
                <a:solidFill>
                  <a:srgbClr val="787788"/>
                </a:solidFill>
                <a:effectLst/>
                <a:uFillTx/>
                <a:latin typeface="DM Sans Light"/>
              </a:rPr>
              <a:t>Dataset size used for training and evaluation.</a:t>
            </a:r>
            <a:endParaRPr lang="en-US" sz="1200" b="0" u="none" strike="noStrike">
              <a:solidFill>
                <a:srgbClr val="000000"/>
              </a:solidFill>
              <a:effectLst/>
              <a:uFillTx/>
              <a:latin typeface="OpenSymbol"/>
            </a:endParaRPr>
          </a:p>
        </p:txBody>
      </p:sp>
      <p:sp>
        <p:nvSpPr>
          <p:cNvPr id="82" name="Rectangle 81"/>
          <p:cNvSpPr/>
          <p:nvPr/>
        </p:nvSpPr>
        <p:spPr>
          <a:xfrm>
            <a:off x="5705640" y="1552680"/>
            <a:ext cx="2619000" cy="552240"/>
          </a:xfrm>
          <a:prstGeom prst="rect">
            <a:avLst/>
          </a:prstGeom>
          <a:noFill/>
          <a:ln w="0">
            <a:noFill/>
          </a:ln>
        </p:spPr>
        <p:style>
          <a:lnRef idx="0">
            <a:scrgbClr r="0" g="0" b="0"/>
          </a:lnRef>
          <a:fillRef idx="0">
            <a:scrgbClr r="0" g="0" b="0"/>
          </a:fillRef>
          <a:effectRef idx="0">
            <a:scrgbClr r="0" g="0" b="0"/>
          </a:effectRef>
          <a:fontRef idx="minor"/>
        </p:style>
        <p:txBody>
          <a:bodyPr anchor="ctr">
            <a:normAutofit fontScale="92500" lnSpcReduction="10000"/>
          </a:bodyPr>
          <a:lstStyle/>
          <a:p>
            <a:pPr algn="r" defTabSz="914400">
              <a:lnSpc>
                <a:spcPct val="100000"/>
              </a:lnSpc>
              <a:tabLst>
                <a:tab pos="0" algn="l"/>
              </a:tabLst>
            </a:pPr>
            <a:r>
              <a:rPr lang="en-US" sz="3600" b="0" u="none" strike="noStrike">
                <a:solidFill>
                  <a:srgbClr val="787788"/>
                </a:solidFill>
                <a:effectLst/>
                <a:uFillTx/>
                <a:latin typeface="Albert Sans"/>
              </a:rPr>
              <a:t>12,000</a:t>
            </a:r>
            <a:endParaRPr lang="en-US" sz="3600" b="0" u="none" strike="noStrike">
              <a:solidFill>
                <a:srgbClr val="000000"/>
              </a:solidFill>
              <a:effectLst/>
              <a:uFillTx/>
              <a:latin typeface="OpenSymbol"/>
            </a:endParaRPr>
          </a:p>
        </p:txBody>
      </p:sp>
      <p:sp>
        <p:nvSpPr>
          <p:cNvPr id="83" name="Rectangle 82"/>
          <p:cNvSpPr/>
          <p:nvPr/>
        </p:nvSpPr>
        <p:spPr>
          <a:xfrm>
            <a:off x="819000" y="2276640"/>
            <a:ext cx="2180880" cy="209160"/>
          </a:xfrm>
          <a:prstGeom prst="rect">
            <a:avLst/>
          </a:prstGeom>
          <a:noFill/>
          <a:ln w="0">
            <a:noFill/>
          </a:ln>
        </p:spPr>
        <p:style>
          <a:lnRef idx="0">
            <a:scrgbClr r="0" g="0" b="0"/>
          </a:lnRef>
          <a:fillRef idx="0">
            <a:scrgbClr r="0" g="0" b="0"/>
          </a:fillRef>
          <a:effectRef idx="0">
            <a:scrgbClr r="0" g="0" b="0"/>
          </a:effectRef>
          <a:fontRef idx="minor"/>
        </p:style>
        <p:txBody>
          <a:bodyPr anchor="ctr">
            <a:normAutofit fontScale="62500" lnSpcReduction="20000"/>
          </a:bodyPr>
          <a:lstStyle/>
          <a:p>
            <a:pPr defTabSz="914400">
              <a:lnSpc>
                <a:spcPct val="100000"/>
              </a:lnSpc>
              <a:tabLst>
                <a:tab pos="0" algn="l"/>
              </a:tabLst>
            </a:pPr>
            <a:r>
              <a:rPr lang="en-US" sz="1400" b="0" u="none" strike="noStrike">
                <a:solidFill>
                  <a:srgbClr val="787788"/>
                </a:solidFill>
                <a:effectLst/>
                <a:uFillTx/>
                <a:latin typeface="DM Sans Light"/>
              </a:rPr>
              <a:t>Intent accuracy</a:t>
            </a:r>
            <a:endParaRPr lang="en-US" sz="1400" b="0" u="none" strike="noStrike">
              <a:solidFill>
                <a:srgbClr val="000000"/>
              </a:solidFill>
              <a:effectLst/>
              <a:uFillTx/>
              <a:latin typeface="OpenSymbol"/>
            </a:endParaRPr>
          </a:p>
        </p:txBody>
      </p:sp>
      <p:sp>
        <p:nvSpPr>
          <p:cNvPr id="84" name="Rectangle 83"/>
          <p:cNvSpPr/>
          <p:nvPr/>
        </p:nvSpPr>
        <p:spPr>
          <a:xfrm>
            <a:off x="3171960" y="2276640"/>
            <a:ext cx="2361960" cy="361440"/>
          </a:xfrm>
          <a:prstGeom prst="rect">
            <a:avLst/>
          </a:prstGeom>
          <a:noFill/>
          <a:ln w="0">
            <a:noFill/>
          </a:ln>
        </p:spPr>
        <p:style>
          <a:lnRef idx="0">
            <a:scrgbClr r="0" g="0" b="0"/>
          </a:lnRef>
          <a:fillRef idx="0">
            <a:scrgbClr r="0" g="0" b="0"/>
          </a:fillRef>
          <a:effectRef idx="0">
            <a:scrgbClr r="0" g="0" b="0"/>
          </a:effectRef>
          <a:fontRef idx="minor"/>
        </p:style>
        <p:txBody>
          <a:bodyPr anchor="ctr">
            <a:normAutofit fontScale="85000" lnSpcReduction="19999"/>
          </a:bodyPr>
          <a:lstStyle/>
          <a:p>
            <a:pPr defTabSz="914400">
              <a:lnSpc>
                <a:spcPct val="100000"/>
              </a:lnSpc>
              <a:tabLst>
                <a:tab pos="0" algn="l"/>
              </a:tabLst>
            </a:pPr>
            <a:r>
              <a:rPr lang="en-US" sz="1200" b="0" u="none" strike="noStrike">
                <a:solidFill>
                  <a:srgbClr val="787788"/>
                </a:solidFill>
                <a:effectLst/>
                <a:uFillTx/>
                <a:latin typeface="DM Sans Light"/>
              </a:rPr>
              <a:t>Core model performance on held-out test set.</a:t>
            </a:r>
            <a:endParaRPr lang="en-US" sz="1200" b="0" u="none" strike="noStrike">
              <a:solidFill>
                <a:srgbClr val="000000"/>
              </a:solidFill>
              <a:effectLst/>
              <a:uFillTx/>
              <a:latin typeface="OpenSymbol"/>
            </a:endParaRPr>
          </a:p>
        </p:txBody>
      </p:sp>
      <p:sp>
        <p:nvSpPr>
          <p:cNvPr id="85" name="Rectangle 84"/>
          <p:cNvSpPr/>
          <p:nvPr/>
        </p:nvSpPr>
        <p:spPr>
          <a:xfrm>
            <a:off x="5705640" y="2276640"/>
            <a:ext cx="2619000" cy="552240"/>
          </a:xfrm>
          <a:prstGeom prst="rect">
            <a:avLst/>
          </a:prstGeom>
          <a:noFill/>
          <a:ln w="0">
            <a:noFill/>
          </a:ln>
        </p:spPr>
        <p:style>
          <a:lnRef idx="0">
            <a:scrgbClr r="0" g="0" b="0"/>
          </a:lnRef>
          <a:fillRef idx="0">
            <a:scrgbClr r="0" g="0" b="0"/>
          </a:fillRef>
          <a:effectRef idx="0">
            <a:scrgbClr r="0" g="0" b="0"/>
          </a:effectRef>
          <a:fontRef idx="minor"/>
        </p:style>
        <p:txBody>
          <a:bodyPr anchor="ctr">
            <a:normAutofit fontScale="92500" lnSpcReduction="10000"/>
          </a:bodyPr>
          <a:lstStyle/>
          <a:p>
            <a:pPr algn="r" defTabSz="914400">
              <a:lnSpc>
                <a:spcPct val="100000"/>
              </a:lnSpc>
              <a:tabLst>
                <a:tab pos="0" algn="l"/>
              </a:tabLst>
            </a:pPr>
            <a:r>
              <a:rPr lang="en-US" sz="3600" b="0" u="none" strike="noStrike">
                <a:solidFill>
                  <a:srgbClr val="787788"/>
                </a:solidFill>
                <a:effectLst/>
                <a:uFillTx/>
                <a:latin typeface="Albert Sans"/>
              </a:rPr>
              <a:t>87%</a:t>
            </a:r>
            <a:endParaRPr lang="en-US" sz="3600" b="0" u="none" strike="noStrike">
              <a:solidFill>
                <a:srgbClr val="000000"/>
              </a:solidFill>
              <a:effectLst/>
              <a:uFillTx/>
              <a:latin typeface="OpenSymbol"/>
            </a:endParaRPr>
          </a:p>
        </p:txBody>
      </p:sp>
      <p:sp>
        <p:nvSpPr>
          <p:cNvPr id="86" name="Rectangle 85"/>
          <p:cNvSpPr/>
          <p:nvPr/>
        </p:nvSpPr>
        <p:spPr>
          <a:xfrm>
            <a:off x="819000" y="2990880"/>
            <a:ext cx="2180880" cy="209160"/>
          </a:xfrm>
          <a:prstGeom prst="rect">
            <a:avLst/>
          </a:prstGeom>
          <a:noFill/>
          <a:ln w="0">
            <a:noFill/>
          </a:ln>
        </p:spPr>
        <p:style>
          <a:lnRef idx="0">
            <a:scrgbClr r="0" g="0" b="0"/>
          </a:lnRef>
          <a:fillRef idx="0">
            <a:scrgbClr r="0" g="0" b="0"/>
          </a:fillRef>
          <a:effectRef idx="0">
            <a:scrgbClr r="0" g="0" b="0"/>
          </a:effectRef>
          <a:fontRef idx="minor"/>
        </p:style>
        <p:txBody>
          <a:bodyPr anchor="ctr">
            <a:normAutofit fontScale="62500" lnSpcReduction="20000"/>
          </a:bodyPr>
          <a:lstStyle/>
          <a:p>
            <a:pPr defTabSz="914400">
              <a:lnSpc>
                <a:spcPct val="100000"/>
              </a:lnSpc>
              <a:tabLst>
                <a:tab pos="0" algn="l"/>
              </a:tabLst>
            </a:pPr>
            <a:r>
              <a:rPr lang="en-US" sz="1400" b="0" u="none" strike="noStrike">
                <a:solidFill>
                  <a:srgbClr val="787788"/>
                </a:solidFill>
                <a:effectLst/>
                <a:uFillTx/>
                <a:latin typeface="DM Sans Light"/>
              </a:rPr>
              <a:t>Macro F1</a:t>
            </a:r>
            <a:endParaRPr lang="en-US" sz="1400" b="0" u="none" strike="noStrike">
              <a:solidFill>
                <a:srgbClr val="000000"/>
              </a:solidFill>
              <a:effectLst/>
              <a:uFillTx/>
              <a:latin typeface="OpenSymbol"/>
            </a:endParaRPr>
          </a:p>
        </p:txBody>
      </p:sp>
      <p:sp>
        <p:nvSpPr>
          <p:cNvPr id="87" name="Rectangle 86"/>
          <p:cNvSpPr/>
          <p:nvPr/>
        </p:nvSpPr>
        <p:spPr>
          <a:xfrm>
            <a:off x="3171960" y="2990880"/>
            <a:ext cx="2361960" cy="361440"/>
          </a:xfrm>
          <a:prstGeom prst="rect">
            <a:avLst/>
          </a:prstGeom>
          <a:noFill/>
          <a:ln w="0">
            <a:noFill/>
          </a:ln>
        </p:spPr>
        <p:style>
          <a:lnRef idx="0">
            <a:scrgbClr r="0" g="0" b="0"/>
          </a:lnRef>
          <a:fillRef idx="0">
            <a:scrgbClr r="0" g="0" b="0"/>
          </a:fillRef>
          <a:effectRef idx="0">
            <a:scrgbClr r="0" g="0" b="0"/>
          </a:effectRef>
          <a:fontRef idx="minor"/>
        </p:style>
        <p:txBody>
          <a:bodyPr anchor="ctr">
            <a:normAutofit fontScale="85000" lnSpcReduction="9999"/>
          </a:bodyPr>
          <a:lstStyle/>
          <a:p>
            <a:pPr defTabSz="914400">
              <a:lnSpc>
                <a:spcPct val="100000"/>
              </a:lnSpc>
              <a:tabLst>
                <a:tab pos="0" algn="l"/>
              </a:tabLst>
            </a:pPr>
            <a:r>
              <a:rPr lang="en-US" sz="1200" b="0" u="none" strike="noStrike">
                <a:solidFill>
                  <a:srgbClr val="787788"/>
                </a:solidFill>
                <a:effectLst/>
                <a:uFillTx/>
                <a:latin typeface="DM Sans Light"/>
              </a:rPr>
              <a:t>Balanced precision/recall across intents.</a:t>
            </a:r>
            <a:endParaRPr lang="en-US" sz="1200" b="0" u="none" strike="noStrike">
              <a:solidFill>
                <a:srgbClr val="000000"/>
              </a:solidFill>
              <a:effectLst/>
              <a:uFillTx/>
              <a:latin typeface="OpenSymbol"/>
            </a:endParaRPr>
          </a:p>
        </p:txBody>
      </p:sp>
      <p:sp>
        <p:nvSpPr>
          <p:cNvPr id="88" name="Rectangle 87"/>
          <p:cNvSpPr/>
          <p:nvPr/>
        </p:nvSpPr>
        <p:spPr>
          <a:xfrm>
            <a:off x="5705640" y="2990880"/>
            <a:ext cx="2619000" cy="552240"/>
          </a:xfrm>
          <a:prstGeom prst="rect">
            <a:avLst/>
          </a:prstGeom>
          <a:noFill/>
          <a:ln w="0">
            <a:noFill/>
          </a:ln>
        </p:spPr>
        <p:style>
          <a:lnRef idx="0">
            <a:scrgbClr r="0" g="0" b="0"/>
          </a:lnRef>
          <a:fillRef idx="0">
            <a:scrgbClr r="0" g="0" b="0"/>
          </a:fillRef>
          <a:effectRef idx="0">
            <a:scrgbClr r="0" g="0" b="0"/>
          </a:effectRef>
          <a:fontRef idx="minor"/>
        </p:style>
        <p:txBody>
          <a:bodyPr anchor="ctr">
            <a:normAutofit fontScale="92500" lnSpcReduction="10000"/>
          </a:bodyPr>
          <a:lstStyle/>
          <a:p>
            <a:pPr algn="r" defTabSz="914400">
              <a:lnSpc>
                <a:spcPct val="100000"/>
              </a:lnSpc>
              <a:tabLst>
                <a:tab pos="0" algn="l"/>
              </a:tabLst>
            </a:pPr>
            <a:r>
              <a:rPr lang="en-US" sz="3600" b="0" u="none" strike="noStrike">
                <a:solidFill>
                  <a:srgbClr val="787788"/>
                </a:solidFill>
                <a:effectLst/>
                <a:uFillTx/>
                <a:latin typeface="Albert Sans"/>
              </a:rPr>
              <a:t>0.85</a:t>
            </a:r>
            <a:endParaRPr lang="en-US" sz="3600" b="0" u="none" strike="noStrike">
              <a:solidFill>
                <a:srgbClr val="000000"/>
              </a:solidFill>
              <a:effectLst/>
              <a:uFillTx/>
              <a:latin typeface="OpenSymbol"/>
            </a:endParaRPr>
          </a:p>
        </p:txBody>
      </p:sp>
      <p:sp>
        <p:nvSpPr>
          <p:cNvPr id="89" name="Rectangle 88"/>
          <p:cNvSpPr/>
          <p:nvPr/>
        </p:nvSpPr>
        <p:spPr>
          <a:xfrm>
            <a:off x="819000" y="3714840"/>
            <a:ext cx="2180880" cy="209160"/>
          </a:xfrm>
          <a:prstGeom prst="rect">
            <a:avLst/>
          </a:prstGeom>
          <a:noFill/>
          <a:ln w="0">
            <a:noFill/>
          </a:ln>
        </p:spPr>
        <p:style>
          <a:lnRef idx="0">
            <a:scrgbClr r="0" g="0" b="0"/>
          </a:lnRef>
          <a:fillRef idx="0">
            <a:scrgbClr r="0" g="0" b="0"/>
          </a:fillRef>
          <a:effectRef idx="0">
            <a:scrgbClr r="0" g="0" b="0"/>
          </a:effectRef>
          <a:fontRef idx="minor"/>
        </p:style>
        <p:txBody>
          <a:bodyPr anchor="ctr">
            <a:normAutofit fontScale="62500" lnSpcReduction="20000"/>
          </a:bodyPr>
          <a:lstStyle/>
          <a:p>
            <a:pPr defTabSz="914400">
              <a:lnSpc>
                <a:spcPct val="100000"/>
              </a:lnSpc>
              <a:tabLst>
                <a:tab pos="0" algn="l"/>
              </a:tabLst>
            </a:pPr>
            <a:r>
              <a:rPr lang="en-US" sz="1400" b="0" u="none" strike="noStrike">
                <a:solidFill>
                  <a:srgbClr val="787788"/>
                </a:solidFill>
                <a:effectLst/>
                <a:uFillTx/>
                <a:latin typeface="DM Sans Light"/>
              </a:rPr>
              <a:t>Inference latency</a:t>
            </a:r>
            <a:endParaRPr lang="en-US" sz="1400" b="0" u="none" strike="noStrike">
              <a:solidFill>
                <a:srgbClr val="000000"/>
              </a:solidFill>
              <a:effectLst/>
              <a:uFillTx/>
              <a:latin typeface="OpenSymbol"/>
            </a:endParaRPr>
          </a:p>
        </p:txBody>
      </p:sp>
      <p:sp>
        <p:nvSpPr>
          <p:cNvPr id="90" name="Rectangle 89"/>
          <p:cNvSpPr/>
          <p:nvPr/>
        </p:nvSpPr>
        <p:spPr>
          <a:xfrm>
            <a:off x="3171960" y="3714840"/>
            <a:ext cx="2361960" cy="361440"/>
          </a:xfrm>
          <a:prstGeom prst="rect">
            <a:avLst/>
          </a:prstGeom>
          <a:noFill/>
          <a:ln w="0">
            <a:noFill/>
          </a:ln>
        </p:spPr>
        <p:style>
          <a:lnRef idx="0">
            <a:scrgbClr r="0" g="0" b="0"/>
          </a:lnRef>
          <a:fillRef idx="0">
            <a:scrgbClr r="0" g="0" b="0"/>
          </a:fillRef>
          <a:effectRef idx="0">
            <a:scrgbClr r="0" g="0" b="0"/>
          </a:effectRef>
          <a:fontRef idx="minor"/>
        </p:style>
        <p:txBody>
          <a:bodyPr anchor="ctr">
            <a:normAutofit fontScale="92500"/>
          </a:bodyPr>
          <a:lstStyle/>
          <a:p>
            <a:pPr defTabSz="914400">
              <a:lnSpc>
                <a:spcPct val="100000"/>
              </a:lnSpc>
              <a:tabLst>
                <a:tab pos="0" algn="l"/>
              </a:tabLst>
            </a:pPr>
            <a:r>
              <a:rPr lang="en-US" sz="1200" b="0" u="none" strike="noStrike">
                <a:solidFill>
                  <a:srgbClr val="787788"/>
                </a:solidFill>
                <a:effectLst/>
                <a:uFillTx/>
                <a:latin typeface="DM Sans Light"/>
              </a:rPr>
              <a:t>Per-request on a single CPU instance.</a:t>
            </a:r>
            <a:endParaRPr lang="en-US" sz="1200" b="0" u="none" strike="noStrike">
              <a:solidFill>
                <a:srgbClr val="000000"/>
              </a:solidFill>
              <a:effectLst/>
              <a:uFillTx/>
              <a:latin typeface="OpenSymbol"/>
            </a:endParaRPr>
          </a:p>
        </p:txBody>
      </p:sp>
      <p:sp>
        <p:nvSpPr>
          <p:cNvPr id="91" name="Rectangle 90"/>
          <p:cNvSpPr/>
          <p:nvPr/>
        </p:nvSpPr>
        <p:spPr>
          <a:xfrm>
            <a:off x="5705640" y="3714840"/>
            <a:ext cx="2619000" cy="552240"/>
          </a:xfrm>
          <a:prstGeom prst="rect">
            <a:avLst/>
          </a:prstGeom>
          <a:noFill/>
          <a:ln w="0">
            <a:noFill/>
          </a:ln>
        </p:spPr>
        <p:style>
          <a:lnRef idx="0">
            <a:scrgbClr r="0" g="0" b="0"/>
          </a:lnRef>
          <a:fillRef idx="0">
            <a:scrgbClr r="0" g="0" b="0"/>
          </a:fillRef>
          <a:effectRef idx="0">
            <a:scrgbClr r="0" g="0" b="0"/>
          </a:effectRef>
          <a:fontRef idx="minor"/>
        </p:style>
        <p:txBody>
          <a:bodyPr anchor="ctr">
            <a:normAutofit fontScale="92500" lnSpcReduction="10000"/>
          </a:bodyPr>
          <a:lstStyle/>
          <a:p>
            <a:pPr algn="r" defTabSz="914400">
              <a:lnSpc>
                <a:spcPct val="100000"/>
              </a:lnSpc>
              <a:tabLst>
                <a:tab pos="0" algn="l"/>
              </a:tabLst>
            </a:pPr>
            <a:r>
              <a:rPr lang="en-US" sz="3600" b="0" u="none" strike="noStrike">
                <a:solidFill>
                  <a:srgbClr val="787788"/>
                </a:solidFill>
                <a:effectLst/>
                <a:uFillTx/>
                <a:latin typeface="Albert Sans"/>
              </a:rPr>
              <a:t>120 ms</a:t>
            </a:r>
            <a:endParaRPr lang="en-US" sz="3600" b="0" u="none" strike="noStrike">
              <a:solidFill>
                <a:srgbClr val="000000"/>
              </a:solidFill>
              <a:effectLst/>
              <a:uFillTx/>
              <a:latin typeface="OpenSymbo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Rectangle 91"/>
          <p:cNvSpPr/>
          <p:nvPr/>
        </p:nvSpPr>
        <p:spPr>
          <a:xfrm>
            <a:off x="333360" y="304920"/>
            <a:ext cx="8096040" cy="38052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70000" lnSpcReduction="20000"/>
          </a:bodyPr>
          <a:lstStyle/>
          <a:p>
            <a:pPr defTabSz="914400">
              <a:lnSpc>
                <a:spcPct val="90000"/>
              </a:lnSpc>
              <a:tabLst>
                <a:tab pos="0" algn="l"/>
              </a:tabLst>
            </a:pPr>
            <a:r>
              <a:rPr lang="en-US" sz="3300" b="0" u="none" strike="noStrike">
                <a:solidFill>
                  <a:srgbClr val="FFFFFF"/>
                </a:solidFill>
                <a:effectLst/>
                <a:uFillTx/>
                <a:latin typeface="Albert Sans"/>
              </a:rPr>
              <a:t>Critical Risks</a:t>
            </a:r>
            <a:endParaRPr lang="en-US" sz="3300" b="0" u="none" strike="noStrike">
              <a:solidFill>
                <a:srgbClr val="000000"/>
              </a:solidFill>
              <a:effectLst/>
              <a:uFillTx/>
              <a:latin typeface="OpenSymbol"/>
            </a:endParaRPr>
          </a:p>
        </p:txBody>
      </p:sp>
      <p:sp>
        <p:nvSpPr>
          <p:cNvPr id="93" name="Rectangle 92"/>
          <p:cNvSpPr/>
          <p:nvPr/>
        </p:nvSpPr>
        <p:spPr>
          <a:xfrm>
            <a:off x="4572000" y="666720"/>
            <a:ext cx="4247640" cy="1599840"/>
          </a:xfrm>
          <a:prstGeom prst="rect">
            <a:avLst/>
          </a:prstGeom>
          <a:noFill/>
          <a:ln w="0">
            <a:noFill/>
          </a:ln>
        </p:spPr>
        <p:style>
          <a:lnRef idx="0">
            <a:scrgbClr r="0" g="0" b="0"/>
          </a:lnRef>
          <a:fillRef idx="0">
            <a:scrgbClr r="0" g="0" b="0"/>
          </a:fillRef>
          <a:effectRef idx="0">
            <a:scrgbClr r="0" g="0" b="0"/>
          </a:effectRef>
          <a:fontRef idx="minor"/>
        </p:style>
        <p:txBody>
          <a:bodyPr anchor="b">
            <a:normAutofit fontScale="92500"/>
          </a:bodyPr>
          <a:lstStyle/>
          <a:p>
            <a:pPr defTabSz="914400">
              <a:lnSpc>
                <a:spcPct val="150000"/>
              </a:lnSpc>
              <a:tabLst>
                <a:tab pos="0" algn="l"/>
              </a:tabLst>
            </a:pPr>
            <a:r>
              <a:rPr lang="en-US" sz="1200" b="0" u="none" strike="noStrike">
                <a:solidFill>
                  <a:srgbClr val="FFFFFF"/>
                </a:solidFill>
                <a:effectLst/>
                <a:uFillTx/>
                <a:latin typeface="DM Sans Light"/>
              </a:rPr>
              <a:t>Main risks threaten production readiness: long-tail intents (&lt;2% frequency) remain underrepresented, driving higher error rates on those classes. Label quality suffers from rule-based pre-labeling, introducing noise that requires manual cleaning. The current demo lacks production-grade deployment: no CI/CD, no autoscaling, limited logging, and missing PII privacy controls. Adoption risk: suggested</a:t>
            </a:r>
            <a:endParaRPr lang="en-US" sz="1200" b="0" u="none" strike="noStrike">
              <a:solidFill>
                <a:srgbClr val="000000"/>
              </a:solidFill>
              <a:effectLst/>
              <a:uFillTx/>
              <a:latin typeface="OpenSymbo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Rectangle: Rounded Corners 93"/>
          <p:cNvSpPr/>
          <p:nvPr/>
        </p:nvSpPr>
        <p:spPr>
          <a:xfrm>
            <a:off x="819000" y="1943280"/>
            <a:ext cx="1752120" cy="2495160"/>
          </a:xfrm>
          <a:prstGeom prst="roundRect">
            <a:avLst>
              <a:gd name="adj" fmla="val 16667"/>
            </a:avLst>
          </a:prstGeom>
          <a:solidFill>
            <a:srgbClr val="212835"/>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95" name="Rectangle: Rounded Corners 94"/>
          <p:cNvSpPr/>
          <p:nvPr/>
        </p:nvSpPr>
        <p:spPr>
          <a:xfrm>
            <a:off x="2695680" y="1943280"/>
            <a:ext cx="1752120" cy="2495160"/>
          </a:xfrm>
          <a:prstGeom prst="roundRect">
            <a:avLst>
              <a:gd name="adj" fmla="val 16667"/>
            </a:avLst>
          </a:prstGeom>
          <a:solidFill>
            <a:srgbClr val="212835"/>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96" name="Rectangle: Rounded Corners 95"/>
          <p:cNvSpPr/>
          <p:nvPr/>
        </p:nvSpPr>
        <p:spPr>
          <a:xfrm>
            <a:off x="4572000" y="1943280"/>
            <a:ext cx="1752120" cy="2495160"/>
          </a:xfrm>
          <a:prstGeom prst="roundRect">
            <a:avLst>
              <a:gd name="adj" fmla="val 16667"/>
            </a:avLst>
          </a:prstGeom>
          <a:solidFill>
            <a:srgbClr val="212835"/>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97" name="Rectangle: Rounded Corners 96"/>
          <p:cNvSpPr/>
          <p:nvPr/>
        </p:nvSpPr>
        <p:spPr>
          <a:xfrm>
            <a:off x="6448320" y="1943280"/>
            <a:ext cx="1752120" cy="2495160"/>
          </a:xfrm>
          <a:prstGeom prst="roundRect">
            <a:avLst>
              <a:gd name="adj" fmla="val 16667"/>
            </a:avLst>
          </a:prstGeom>
          <a:solidFill>
            <a:srgbClr val="212835"/>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98" name="Rectangle 97"/>
          <p:cNvSpPr/>
          <p:nvPr/>
        </p:nvSpPr>
        <p:spPr>
          <a:xfrm>
            <a:off x="819000" y="628560"/>
            <a:ext cx="7505280" cy="3996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19999"/>
          </a:bodyPr>
          <a:lstStyle/>
          <a:p>
            <a:pPr defTabSz="914400">
              <a:lnSpc>
                <a:spcPct val="100000"/>
              </a:lnSpc>
              <a:tabLst>
                <a:tab pos="0" algn="l"/>
              </a:tabLst>
            </a:pPr>
            <a:r>
              <a:rPr lang="en-US" sz="2600" b="0" u="none" strike="noStrike">
                <a:solidFill>
                  <a:srgbClr val="787788"/>
                </a:solidFill>
                <a:effectLst/>
                <a:uFillTx/>
                <a:latin typeface="Albert Sans"/>
              </a:rPr>
              <a:t>Next Steps</a:t>
            </a:r>
            <a:endParaRPr lang="en-US" sz="2600" b="0" u="none" strike="noStrike">
              <a:solidFill>
                <a:srgbClr val="000000"/>
              </a:solidFill>
              <a:effectLst/>
              <a:uFillTx/>
              <a:latin typeface="OpenSymbol"/>
            </a:endParaRPr>
          </a:p>
        </p:txBody>
      </p:sp>
      <p:sp>
        <p:nvSpPr>
          <p:cNvPr id="99" name="Rectangle 98"/>
          <p:cNvSpPr/>
          <p:nvPr/>
        </p:nvSpPr>
        <p:spPr>
          <a:xfrm>
            <a:off x="819000" y="1390680"/>
            <a:ext cx="175212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r>
              <a:rPr lang="en-US" sz="2400" b="0" u="none" strike="noStrike">
                <a:solidFill>
                  <a:srgbClr val="787788"/>
                </a:solidFill>
                <a:effectLst/>
                <a:uFillTx/>
                <a:latin typeface="Albert Sans"/>
              </a:rPr>
              <a:t>01</a:t>
            </a:r>
            <a:endParaRPr lang="en-US" sz="2400" b="0" u="none" strike="noStrike">
              <a:solidFill>
                <a:srgbClr val="000000"/>
              </a:solidFill>
              <a:effectLst/>
              <a:uFillTx/>
              <a:latin typeface="OpenSymbol"/>
            </a:endParaRPr>
          </a:p>
        </p:txBody>
      </p:sp>
      <p:sp>
        <p:nvSpPr>
          <p:cNvPr id="100" name="Rectangle 99"/>
          <p:cNvSpPr/>
          <p:nvPr/>
        </p:nvSpPr>
        <p:spPr>
          <a:xfrm>
            <a:off x="990720" y="2181240"/>
            <a:ext cx="1409400" cy="7045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800" b="0" u="none" strike="noStrike">
                <a:solidFill>
                  <a:srgbClr val="FFFFFF"/>
                </a:solidFill>
                <a:effectLst/>
                <a:uFillTx/>
                <a:latin typeface="Albert Sans"/>
              </a:rPr>
              <a:t>Data Expansion</a:t>
            </a:r>
            <a:endParaRPr lang="en-US" sz="1800" b="0" u="none" strike="noStrike">
              <a:solidFill>
                <a:srgbClr val="000000"/>
              </a:solidFill>
              <a:effectLst/>
              <a:uFillTx/>
              <a:latin typeface="OpenSymbol"/>
            </a:endParaRPr>
          </a:p>
        </p:txBody>
      </p:sp>
      <p:sp>
        <p:nvSpPr>
          <p:cNvPr id="101" name="Rectangle 100"/>
          <p:cNvSpPr/>
          <p:nvPr/>
        </p:nvSpPr>
        <p:spPr>
          <a:xfrm>
            <a:off x="990720" y="2657520"/>
            <a:ext cx="1409400" cy="18000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a:solidFill>
                  <a:srgbClr val="FFFFFF"/>
                </a:solidFill>
                <a:effectLst/>
                <a:uFillTx/>
                <a:latin typeface="DM Sans Light"/>
              </a:rPr>
              <a:t>Expand labeled tickets to 30k via active learning + manual review. Owner: Intern/Data Team. Timeline: 6 weeks.</a:t>
            </a:r>
            <a:endParaRPr lang="en-US" sz="1200" b="0" u="none" strike="noStrike">
              <a:solidFill>
                <a:srgbClr val="000000"/>
              </a:solidFill>
              <a:effectLst/>
              <a:uFillTx/>
              <a:latin typeface="OpenSymbol"/>
            </a:endParaRPr>
          </a:p>
        </p:txBody>
      </p:sp>
      <p:sp>
        <p:nvSpPr>
          <p:cNvPr id="102" name="Rectangle 101"/>
          <p:cNvSpPr/>
          <p:nvPr/>
        </p:nvSpPr>
        <p:spPr>
          <a:xfrm>
            <a:off x="2695680" y="1390680"/>
            <a:ext cx="175212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r>
              <a:rPr lang="en-US" sz="2400" b="0" u="none" strike="noStrike">
                <a:solidFill>
                  <a:srgbClr val="787788"/>
                </a:solidFill>
                <a:effectLst/>
                <a:uFillTx/>
                <a:latin typeface="Albert Sans"/>
              </a:rPr>
              <a:t>02</a:t>
            </a:r>
            <a:endParaRPr lang="en-US" sz="2400" b="0" u="none" strike="noStrike">
              <a:solidFill>
                <a:srgbClr val="000000"/>
              </a:solidFill>
              <a:effectLst/>
              <a:uFillTx/>
              <a:latin typeface="OpenSymbol"/>
            </a:endParaRPr>
          </a:p>
        </p:txBody>
      </p:sp>
      <p:sp>
        <p:nvSpPr>
          <p:cNvPr id="103" name="Rectangle 102"/>
          <p:cNvSpPr/>
          <p:nvPr/>
        </p:nvSpPr>
        <p:spPr>
          <a:xfrm>
            <a:off x="2867040" y="2181240"/>
            <a:ext cx="1409400" cy="5522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19999"/>
          </a:bodyPr>
          <a:lstStyle/>
          <a:p>
            <a:pPr defTabSz="914400">
              <a:lnSpc>
                <a:spcPct val="100000"/>
              </a:lnSpc>
              <a:tabLst>
                <a:tab pos="0" algn="l"/>
              </a:tabLst>
            </a:pPr>
            <a:r>
              <a:rPr lang="en-US" sz="1800" b="0" u="none" strike="noStrike">
                <a:solidFill>
                  <a:srgbClr val="FFFFFF"/>
                </a:solidFill>
                <a:effectLst/>
                <a:uFillTx/>
                <a:latin typeface="Albert Sans"/>
              </a:rPr>
              <a:t>CI/CD Packaging</a:t>
            </a:r>
            <a:endParaRPr lang="en-US" sz="1800" b="0" u="none" strike="noStrike">
              <a:solidFill>
                <a:srgbClr val="000000"/>
              </a:solidFill>
              <a:effectLst/>
              <a:uFillTx/>
              <a:latin typeface="OpenSymbol"/>
            </a:endParaRPr>
          </a:p>
        </p:txBody>
      </p:sp>
      <p:sp>
        <p:nvSpPr>
          <p:cNvPr id="104" name="Rectangle 103"/>
          <p:cNvSpPr/>
          <p:nvPr/>
        </p:nvSpPr>
        <p:spPr>
          <a:xfrm>
            <a:off x="2867040" y="2657520"/>
            <a:ext cx="1409400" cy="1095120"/>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10000"/>
          </a:bodyPr>
          <a:lstStyle/>
          <a:p>
            <a:pPr defTabSz="914400">
              <a:lnSpc>
                <a:spcPct val="100000"/>
              </a:lnSpc>
              <a:tabLst>
                <a:tab pos="0" algn="l"/>
              </a:tabLst>
            </a:pPr>
            <a:r>
              <a:rPr lang="en-US" sz="1200" b="0" u="none" strike="noStrike">
                <a:solidFill>
                  <a:srgbClr val="FFFFFF"/>
                </a:solidFill>
                <a:effectLst/>
                <a:uFillTx/>
                <a:latin typeface="DM Sans Light"/>
              </a:rPr>
              <a:t>Package model in containerized deployment with basic autoscaling. Owner: DevOps. Timeline: 4 weeks.</a:t>
            </a:r>
            <a:endParaRPr lang="en-US" sz="1200" b="0" u="none" strike="noStrike">
              <a:solidFill>
                <a:srgbClr val="000000"/>
              </a:solidFill>
              <a:effectLst/>
              <a:uFillTx/>
              <a:latin typeface="OpenSymbol"/>
            </a:endParaRPr>
          </a:p>
        </p:txBody>
      </p:sp>
      <p:sp>
        <p:nvSpPr>
          <p:cNvPr id="105" name="Rectangle 104"/>
          <p:cNvSpPr/>
          <p:nvPr/>
        </p:nvSpPr>
        <p:spPr>
          <a:xfrm>
            <a:off x="4572000" y="1390680"/>
            <a:ext cx="175212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r>
              <a:rPr lang="en-US" sz="2400" b="0" u="none" strike="noStrike">
                <a:solidFill>
                  <a:srgbClr val="787788"/>
                </a:solidFill>
                <a:effectLst/>
                <a:uFillTx/>
                <a:latin typeface="Albert Sans"/>
              </a:rPr>
              <a:t>03</a:t>
            </a:r>
            <a:endParaRPr lang="en-US" sz="2400" b="0" u="none" strike="noStrike">
              <a:solidFill>
                <a:srgbClr val="000000"/>
              </a:solidFill>
              <a:effectLst/>
              <a:uFillTx/>
              <a:latin typeface="OpenSymbol"/>
            </a:endParaRPr>
          </a:p>
        </p:txBody>
      </p:sp>
      <p:sp>
        <p:nvSpPr>
          <p:cNvPr id="106" name="Rectangle 105"/>
          <p:cNvSpPr/>
          <p:nvPr/>
        </p:nvSpPr>
        <p:spPr>
          <a:xfrm>
            <a:off x="4743360" y="2181240"/>
            <a:ext cx="1409400" cy="5522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19999"/>
          </a:bodyPr>
          <a:lstStyle/>
          <a:p>
            <a:pPr defTabSz="914400">
              <a:lnSpc>
                <a:spcPct val="100000"/>
              </a:lnSpc>
              <a:tabLst>
                <a:tab pos="0" algn="l"/>
              </a:tabLst>
            </a:pPr>
            <a:r>
              <a:rPr lang="en-US" sz="1800" b="0" u="none" strike="noStrike">
                <a:solidFill>
                  <a:srgbClr val="FFFFFF"/>
                </a:solidFill>
                <a:effectLst/>
                <a:uFillTx/>
                <a:latin typeface="Albert Sans"/>
              </a:rPr>
              <a:t>Monitoring &amp; Privacy</a:t>
            </a:r>
            <a:endParaRPr lang="en-US" sz="1800" b="0" u="none" strike="noStrike">
              <a:solidFill>
                <a:srgbClr val="000000"/>
              </a:solidFill>
              <a:effectLst/>
              <a:uFillTx/>
              <a:latin typeface="OpenSymbol"/>
            </a:endParaRPr>
          </a:p>
        </p:txBody>
      </p:sp>
      <p:sp>
        <p:nvSpPr>
          <p:cNvPr id="107" name="Rectangle 106"/>
          <p:cNvSpPr/>
          <p:nvPr/>
        </p:nvSpPr>
        <p:spPr>
          <a:xfrm>
            <a:off x="4743360" y="2657520"/>
            <a:ext cx="1409400" cy="19807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a:solidFill>
                  <a:srgbClr val="FFFFFF"/>
                </a:solidFill>
                <a:effectLst/>
                <a:uFillTx/>
                <a:latin typeface="DM Sans Light"/>
              </a:rPr>
              <a:t>Implement latency/accuracy drift monitoring and PII filters before pilot. Owners: ML Engineer/DevOps. Timeline: 4 weeks.</a:t>
            </a:r>
            <a:endParaRPr lang="en-US" sz="1200" b="0" u="none" strike="noStrike">
              <a:solidFill>
                <a:srgbClr val="000000"/>
              </a:solidFill>
              <a:effectLst/>
              <a:uFillTx/>
              <a:latin typeface="OpenSymbol"/>
            </a:endParaRPr>
          </a:p>
        </p:txBody>
      </p:sp>
      <p:sp>
        <p:nvSpPr>
          <p:cNvPr id="108" name="Rectangle 107"/>
          <p:cNvSpPr/>
          <p:nvPr/>
        </p:nvSpPr>
        <p:spPr>
          <a:xfrm>
            <a:off x="6448320" y="1390680"/>
            <a:ext cx="175212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r>
              <a:rPr lang="en-US" sz="2400" b="0" u="none" strike="noStrike">
                <a:solidFill>
                  <a:srgbClr val="787788"/>
                </a:solidFill>
                <a:effectLst/>
                <a:uFillTx/>
                <a:latin typeface="Albert Sans"/>
              </a:rPr>
              <a:t>04</a:t>
            </a:r>
            <a:endParaRPr lang="en-US" sz="2400" b="0" u="none" strike="noStrike">
              <a:solidFill>
                <a:srgbClr val="000000"/>
              </a:solidFill>
              <a:effectLst/>
              <a:uFillTx/>
              <a:latin typeface="OpenSymbol"/>
            </a:endParaRPr>
          </a:p>
        </p:txBody>
      </p:sp>
      <p:sp>
        <p:nvSpPr>
          <p:cNvPr id="109" name="Rectangle 108"/>
          <p:cNvSpPr/>
          <p:nvPr/>
        </p:nvSpPr>
        <p:spPr>
          <a:xfrm>
            <a:off x="6620040" y="2181240"/>
            <a:ext cx="1409400" cy="27576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77500" lnSpcReduction="20000"/>
          </a:bodyPr>
          <a:lstStyle/>
          <a:p>
            <a:pPr defTabSz="914400">
              <a:lnSpc>
                <a:spcPct val="100000"/>
              </a:lnSpc>
              <a:tabLst>
                <a:tab pos="0" algn="l"/>
              </a:tabLst>
            </a:pPr>
            <a:r>
              <a:rPr lang="en-US" sz="1800" b="0" u="none" strike="noStrike">
                <a:solidFill>
                  <a:srgbClr val="FFFFFF"/>
                </a:solidFill>
                <a:effectLst/>
                <a:uFillTx/>
                <a:latin typeface="Albert Sans"/>
              </a:rPr>
              <a:t>A/B Pilot</a:t>
            </a:r>
            <a:endParaRPr lang="en-US" sz="1800" b="0" u="none" strike="noStrike">
              <a:solidFill>
                <a:srgbClr val="000000"/>
              </a:solidFill>
              <a:effectLst/>
              <a:uFillTx/>
              <a:latin typeface="OpenSymbol"/>
            </a:endParaRPr>
          </a:p>
        </p:txBody>
      </p:sp>
      <p:sp>
        <p:nvSpPr>
          <p:cNvPr id="110" name="Rectangle 109"/>
          <p:cNvSpPr/>
          <p:nvPr/>
        </p:nvSpPr>
        <p:spPr>
          <a:xfrm>
            <a:off x="6620040" y="2657520"/>
            <a:ext cx="1409400" cy="1275840"/>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10000"/>
          </a:bodyPr>
          <a:lstStyle/>
          <a:p>
            <a:pPr defTabSz="914400">
              <a:lnSpc>
                <a:spcPct val="100000"/>
              </a:lnSpc>
              <a:tabLst>
                <a:tab pos="0" algn="l"/>
              </a:tabLst>
            </a:pPr>
            <a:r>
              <a:rPr lang="en-US" sz="1200" b="0" u="none" strike="noStrike">
                <a:solidFill>
                  <a:srgbClr val="FFFFFF"/>
                </a:solidFill>
                <a:effectLst/>
                <a:uFillTx/>
                <a:latin typeface="DM Sans Light"/>
              </a:rPr>
              <a:t>Run 4-week pilot in support team to measure ART and agent acceptance. Owner: Support Lead. Timeline: start after week 6.</a:t>
            </a:r>
            <a:endParaRPr lang="en-US" sz="1200" b="0" u="none" strike="noStrike">
              <a:solidFill>
                <a:srgbClr val="000000"/>
              </a:solidFill>
              <a:effectLst/>
              <a:uFillTx/>
              <a:latin typeface="OpenSymbo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Rectangle 110"/>
          <p:cNvSpPr/>
          <p:nvPr/>
        </p:nvSpPr>
        <p:spPr>
          <a:xfrm>
            <a:off x="333360" y="304920"/>
            <a:ext cx="8096040" cy="38052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70000" lnSpcReduction="20000"/>
          </a:bodyPr>
          <a:lstStyle/>
          <a:p>
            <a:pPr defTabSz="914400">
              <a:lnSpc>
                <a:spcPct val="90000"/>
              </a:lnSpc>
              <a:tabLst>
                <a:tab pos="0" algn="l"/>
              </a:tabLst>
            </a:pPr>
            <a:r>
              <a:rPr lang="en-US" sz="3300" b="0" u="none" strike="noStrike">
                <a:solidFill>
                  <a:srgbClr val="FFFFFF"/>
                </a:solidFill>
                <a:effectLst/>
                <a:uFillTx/>
                <a:latin typeface="Albert Sans"/>
              </a:rPr>
              <a:t>Implementation Plan</a:t>
            </a:r>
            <a:endParaRPr lang="en-US" sz="3300" b="0" u="none" strike="noStrike">
              <a:solidFill>
                <a:srgbClr val="000000"/>
              </a:solidFill>
              <a:effectLst/>
              <a:uFillTx/>
              <a:latin typeface="OpenSymbol"/>
            </a:endParaRPr>
          </a:p>
        </p:txBody>
      </p:sp>
      <p:sp>
        <p:nvSpPr>
          <p:cNvPr id="112" name="Rectangle 111"/>
          <p:cNvSpPr/>
          <p:nvPr/>
        </p:nvSpPr>
        <p:spPr>
          <a:xfrm>
            <a:off x="4572000" y="343080"/>
            <a:ext cx="4247640" cy="1142640"/>
          </a:xfrm>
          <a:prstGeom prst="rect">
            <a:avLst/>
          </a:prstGeom>
          <a:noFill/>
          <a:ln w="0">
            <a:noFill/>
          </a:ln>
        </p:spPr>
        <p:style>
          <a:lnRef idx="0">
            <a:scrgbClr r="0" g="0" b="0"/>
          </a:lnRef>
          <a:fillRef idx="0">
            <a:scrgbClr r="0" g="0" b="0"/>
          </a:fillRef>
          <a:effectRef idx="0">
            <a:scrgbClr r="0" g="0" b="0"/>
          </a:effectRef>
          <a:fontRef idx="minor"/>
        </p:style>
        <p:txBody>
          <a:bodyPr anchor="b">
            <a:normAutofit fontScale="92500"/>
          </a:bodyPr>
          <a:lstStyle/>
          <a:p>
            <a:pPr defTabSz="914400">
              <a:lnSpc>
                <a:spcPct val="150000"/>
              </a:lnSpc>
              <a:tabLst>
                <a:tab pos="0" algn="l"/>
              </a:tabLst>
            </a:pPr>
            <a:r>
              <a:rPr lang="en-US" sz="1200" b="0" u="none" strike="noStrike">
                <a:solidFill>
                  <a:srgbClr val="FFFFFF"/>
                </a:solidFill>
                <a:effectLst/>
                <a:uFillTx/>
                <a:latin typeface="DM Sans Light"/>
              </a:rPr>
              <a:t>- Expand labeled dataset to 30k tickets (Owner: Intern → Data Team)</a:t>
            </a:r>
            <a:endParaRPr lang="en-US" sz="1200" b="0" u="none" strike="noStrike">
              <a:solidFill>
                <a:srgbClr val="000000"/>
              </a:solidFill>
              <a:effectLst/>
              <a:uFillTx/>
              <a:latin typeface="OpenSymbol"/>
            </a:endParaRPr>
          </a:p>
          <a:p>
            <a:pPr defTabSz="914400">
              <a:lnSpc>
                <a:spcPct val="150000"/>
              </a:lnSpc>
              <a:tabLst>
                <a:tab pos="0" algn="l"/>
              </a:tabLst>
            </a:pPr>
            <a:r>
              <a:rPr lang="en-US" sz="1200" b="0" u="none" strike="noStrike">
                <a:solidFill>
                  <a:srgbClr val="FFFFFF"/>
                </a:solidFill>
                <a:effectLst/>
                <a:uFillTx/>
                <a:latin typeface="DM Sans Light"/>
              </a:rPr>
              <a:t>- Run a 4-week live-support A/B trial (Owner: Support Lead)</a:t>
            </a:r>
            <a:endParaRPr lang="en-US" sz="1200" b="0" u="none" strike="noStrike">
              <a:solidFill>
                <a:srgbClr val="000000"/>
              </a:solidFill>
              <a:effectLst/>
              <a:uFillTx/>
              <a:latin typeface="OpenSymbol"/>
            </a:endParaRPr>
          </a:p>
          <a:p>
            <a:pPr defTabSz="914400">
              <a:lnSpc>
                <a:spcPct val="150000"/>
              </a:lnSpc>
              <a:tabLst>
                <a:tab pos="0" algn="l"/>
              </a:tabLst>
            </a:pPr>
            <a:r>
              <a:rPr lang="en-US" sz="1200" b="0" u="none" strike="noStrike">
                <a:solidFill>
                  <a:srgbClr val="FFFFFF"/>
                </a:solidFill>
                <a:effectLst/>
                <a:uFillTx/>
                <a:latin typeface="DM Sans Light"/>
              </a:rPr>
              <a:t>- Implement monitoring &amp; privacy controls before production rollout (Owner: DevOps/ML Engineer)</a:t>
            </a:r>
            <a:endParaRPr lang="en-US" sz="1200" b="0" u="none" strike="noStrike">
              <a:solidFill>
                <a:srgbClr val="000000"/>
              </a:solidFill>
              <a:effectLst/>
              <a:uFillTx/>
              <a:latin typeface="OpenSymbo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PlaceHolder 1"/>
          <p:cNvSpPr>
            <a:spLocks noGrp="1"/>
          </p:cNvSpPr>
          <p:nvPr>
            <p:ph type="subTitle"/>
          </p:nvPr>
        </p:nvSpPr>
        <p:spPr>
          <a:xfrm>
            <a:off x="581040" y="1571760"/>
            <a:ext cx="3514320" cy="738664"/>
          </a:xfrm>
          <a:prstGeom prst="rect">
            <a:avLst/>
          </a:prstGeom>
          <a:noFill/>
          <a:ln w="0">
            <a:noFill/>
          </a:ln>
        </p:spPr>
        <p:txBody>
          <a:bodyPr lIns="91440" tIns="91440" rIns="91440" bIns="91440" anchor="t">
            <a:spAutoFit/>
          </a:bodyPr>
          <a:lstStyle/>
          <a:p>
            <a:pPr>
              <a:lnSpc>
                <a:spcPct val="100000"/>
              </a:lnSpc>
              <a:tabLst>
                <a:tab pos="0" algn="l"/>
              </a:tabLst>
            </a:pPr>
            <a:r>
              <a:rPr lang="en" sz="1200" b="0" u="none" strike="noStrike" dirty="0">
                <a:solidFill>
                  <a:schemeClr val="dk1"/>
                </a:solidFill>
                <a:effectLst/>
                <a:uFillTx/>
                <a:latin typeface="DM Sans Light"/>
                <a:ea typeface="DM Sans Light"/>
              </a:rPr>
              <a:t>Do you have any questions?</a:t>
            </a:r>
            <a:endParaRPr lang="en-US" sz="1200" b="0" u="none" strike="noStrike" dirty="0">
              <a:solidFill>
                <a:srgbClr val="000000"/>
              </a:solidFill>
              <a:effectLst/>
              <a:uFillTx/>
              <a:latin typeface="OpenSymbol"/>
            </a:endParaRPr>
          </a:p>
          <a:p>
            <a:pPr>
              <a:lnSpc>
                <a:spcPct val="100000"/>
              </a:lnSpc>
              <a:tabLst>
                <a:tab pos="0" algn="l"/>
              </a:tabLst>
            </a:pPr>
            <a:r>
              <a:rPr lang="en" sz="1200" b="0" u="none" strike="noStrike" dirty="0">
                <a:solidFill>
                  <a:schemeClr val="dk1"/>
                </a:solidFill>
                <a:effectLst/>
                <a:uFillTx/>
                <a:latin typeface="DM Sans Light"/>
                <a:ea typeface="DM Sans Light"/>
              </a:rPr>
              <a:t>yuvrajsinghuv145@</a:t>
            </a:r>
            <a:r>
              <a:rPr lang="en" sz="1200" dirty="0">
                <a:solidFill>
                  <a:schemeClr val="dk1"/>
                </a:solidFill>
                <a:latin typeface="DM Sans Light"/>
                <a:ea typeface="DM Sans Light"/>
              </a:rPr>
              <a:t>gmail</a:t>
            </a:r>
            <a:r>
              <a:rPr lang="en" sz="1200" b="0" u="none" strike="noStrike" dirty="0">
                <a:solidFill>
                  <a:schemeClr val="dk1"/>
                </a:solidFill>
                <a:effectLst/>
                <a:uFillTx/>
                <a:latin typeface="DM Sans Light"/>
                <a:ea typeface="DM Sans Light"/>
              </a:rPr>
              <a:t>.com </a:t>
            </a:r>
            <a:endParaRPr lang="en-US" sz="1200" b="0" u="none" strike="noStrike" dirty="0">
              <a:solidFill>
                <a:srgbClr val="000000"/>
              </a:solidFill>
              <a:effectLst/>
              <a:uFillTx/>
              <a:latin typeface="OpenSymbol"/>
            </a:endParaRPr>
          </a:p>
          <a:p>
            <a:pPr>
              <a:lnSpc>
                <a:spcPct val="100000"/>
              </a:lnSpc>
              <a:tabLst>
                <a:tab pos="0" algn="l"/>
              </a:tabLst>
            </a:pPr>
            <a:r>
              <a:rPr lang="en" sz="1200" b="0" u="none" strike="noStrike" dirty="0">
                <a:solidFill>
                  <a:schemeClr val="dk1"/>
                </a:solidFill>
                <a:effectLst/>
                <a:uFillTx/>
                <a:latin typeface="DM Sans Light"/>
                <a:ea typeface="DM Sans Light"/>
              </a:rPr>
              <a:t>+</a:t>
            </a:r>
            <a:r>
              <a:rPr lang="en" sz="1200" dirty="0">
                <a:solidFill>
                  <a:schemeClr val="dk1"/>
                </a:solidFill>
                <a:latin typeface="DM Sans Light"/>
                <a:ea typeface="DM Sans Light"/>
              </a:rPr>
              <a:t>91-6200059944</a:t>
            </a:r>
            <a:endParaRPr lang="en-US" sz="1200" b="0" u="none" strike="noStrike" dirty="0">
              <a:solidFill>
                <a:srgbClr val="000000"/>
              </a:solidFill>
              <a:effectLst/>
              <a:uFillTx/>
              <a:latin typeface="OpenSymbol"/>
            </a:endParaRPr>
          </a:p>
        </p:txBody>
      </p:sp>
      <p:sp>
        <p:nvSpPr>
          <p:cNvPr id="114" name="PlaceHolder 2"/>
          <p:cNvSpPr>
            <a:spLocks noGrp="1"/>
          </p:cNvSpPr>
          <p:nvPr>
            <p:ph type="title"/>
          </p:nvPr>
        </p:nvSpPr>
        <p:spPr>
          <a:xfrm>
            <a:off x="419040" y="619200"/>
            <a:ext cx="4285800" cy="2012040"/>
          </a:xfrm>
          <a:prstGeom prst="rect">
            <a:avLst/>
          </a:prstGeom>
          <a:noFill/>
          <a:ln w="0">
            <a:noFill/>
          </a:ln>
        </p:spPr>
        <p:txBody>
          <a:bodyPr lIns="91440" tIns="91440" rIns="91440" bIns="91440" anchor="t">
            <a:spAutoFit/>
          </a:bodyPr>
          <a:lstStyle/>
          <a:p>
            <a:pPr indent="0">
              <a:lnSpc>
                <a:spcPct val="100000"/>
              </a:lnSpc>
              <a:buNone/>
              <a:tabLst>
                <a:tab pos="0" algn="l"/>
              </a:tabLst>
            </a:pPr>
            <a:r>
              <a:rPr lang="en" sz="6000" b="0" u="none" strike="noStrike" dirty="0">
                <a:solidFill>
                  <a:schemeClr val="dk1"/>
                </a:solidFill>
                <a:effectLst/>
                <a:uFillTx/>
                <a:latin typeface="Albert Sans"/>
                <a:ea typeface="Albert Sans"/>
              </a:rPr>
              <a:t>Thanks</a:t>
            </a:r>
            <a:endParaRPr lang="fr-FR" sz="6000" b="0" u="none" strike="noStrike" dirty="0">
              <a:solidFill>
                <a:schemeClr val="dk1"/>
              </a:solidFill>
              <a:effectLst/>
              <a:uFillTx/>
              <a:latin typeface="Arial"/>
            </a:endParaRPr>
          </a:p>
        </p:txBody>
      </p:sp>
    </p:spTree>
  </p:cSld>
  <p:clrMapOvr>
    <a:masterClrMapping/>
  </p:clrMapOvr>
</p:sld>
</file>

<file path=ppt/theme/theme1.xml><?xml version="1.0" encoding="utf-8"?>
<a:theme xmlns:a="http://schemas.openxmlformats.org/drawingml/2006/main" name="Advancements in Medical Genetics by Slidesgo">
  <a:themeElements>
    <a:clrScheme name="Simple Light">
      <a:dk1>
        <a:srgbClr val="FFFFFF"/>
      </a:dk1>
      <a:lt1>
        <a:srgbClr val="EEEEEE"/>
      </a:lt1>
      <a:dk2>
        <a:srgbClr val="787788"/>
      </a:dk2>
      <a:lt2>
        <a:srgbClr val="212835"/>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Advancements in Medical Genetics by Slidesgo">
  <a:themeElements>
    <a:clrScheme name="Simple Light">
      <a:dk1>
        <a:srgbClr val="FFFFFF"/>
      </a:dk1>
      <a:lt1>
        <a:srgbClr val="EEEEEE"/>
      </a:lt1>
      <a:dk2>
        <a:srgbClr val="787788"/>
      </a:dk2>
      <a:lt2>
        <a:srgbClr val="212835"/>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Advancements in Medical Genetics by Slidesgo">
  <a:themeElements>
    <a:clrScheme name="Simple Light">
      <a:dk1>
        <a:srgbClr val="FFFFFF"/>
      </a:dk1>
      <a:lt1>
        <a:srgbClr val="EEEEEE"/>
      </a:lt1>
      <a:dk2>
        <a:srgbClr val="787788"/>
      </a:dk2>
      <a:lt2>
        <a:srgbClr val="212835"/>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TotalTime>
  <Words>513</Words>
  <Application>Microsoft Office PowerPoint</Application>
  <PresentationFormat>On-screen Show (16:9)</PresentationFormat>
  <Paragraphs>55</Paragraphs>
  <Slides>9</Slides>
  <Notes>0</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9</vt:i4>
      </vt:variant>
    </vt:vector>
  </HeadingPairs>
  <TitlesOfParts>
    <vt:vector size="19" baseType="lpstr">
      <vt:lpstr>Albert Sans</vt:lpstr>
      <vt:lpstr>Arial</vt:lpstr>
      <vt:lpstr>DM Sans</vt:lpstr>
      <vt:lpstr>DM Sans Light</vt:lpstr>
      <vt:lpstr>OpenSymbol</vt:lpstr>
      <vt:lpstr>Symbol</vt:lpstr>
      <vt:lpstr>Wingdings</vt:lpstr>
      <vt:lpstr>Advancements in Medical Genetics by Slidesgo</vt:lpstr>
      <vt:lpstr>Advancements in Medical Genetics by Slidesgo</vt:lpstr>
      <vt:lpstr>Advancements in Medical Genetics by Slidesgo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Yuvraj Singh</cp:lastModifiedBy>
  <cp:revision>1</cp:revision>
  <dcterms:modified xsi:type="dcterms:W3CDTF">2026-08-29T23:07:40Z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2026-08-29T23:02:43Z</dcterms:created>
  <dc:creator>Slidesgo AI</dc:creator>
  <dc:description/>
  <dc:language>en-US</dc:language>
  <cp:lastModifiedBy>Unknown Creator</cp:lastModifiedBy>
  <dcterms:modified xsi:type="dcterms:W3CDTF">2026-08-29T23:02:43Z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9</vt:r8>
  </property>
  <property fmtid="{D5CDD505-2E9C-101B-9397-08002B2CF9AE}" pid="3" name="SlidesgoGeneratedBy">
    <vt:lpwstr>slidesgo-ai</vt:lpwstr>
  </property>
  <property fmtid="{D5CDD505-2E9C-101B-9397-08002B2CF9AE}" pid="4" name="SlidesgoPresentationUuid">
    <vt:lpwstr>a29f24db-f219-4f3a-a3bd-6f7d0a62d28c</vt:lpwstr>
  </property>
</Properties>
</file>